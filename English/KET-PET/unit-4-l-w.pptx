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60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223DD-BE64-B565-E566-89C622E8B5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DBE274-ADF3-A121-9D02-E24FAC2643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F97794-9775-AC0A-6E20-4169D3EE7C68}"/>
              </a:ext>
            </a:extLst>
          </p:cNvPr>
          <p:cNvSpPr>
            <a:spLocks noGrp="1"/>
          </p:cNvSpPr>
          <p:nvPr>
            <p:ph type="dt" sz="half" idx="10"/>
          </p:nvPr>
        </p:nvSpPr>
        <p:spPr/>
        <p:txBody>
          <a:bodyPr/>
          <a:lstStyle/>
          <a:p>
            <a:pPr algn="l"/>
            <a:fld id="{A5B0A250-5CC0-1746-B209-08E8B0DAE6AF}" type="datetimeFigureOut">
              <a:rPr lang="en-US" smtClean="0"/>
              <a:pPr algn="l"/>
              <a:t>16/05</a:t>
            </a:fld>
            <a:endParaRPr lang="en-US" dirty="0"/>
          </a:p>
        </p:txBody>
      </p:sp>
      <p:sp>
        <p:nvSpPr>
          <p:cNvPr id="5" name="Footer Placeholder 4">
            <a:extLst>
              <a:ext uri="{FF2B5EF4-FFF2-40B4-BE49-F238E27FC236}">
                <a16:creationId xmlns:a16="http://schemas.microsoft.com/office/drawing/2014/main" id="{A4BA02C6-998F-A347-3C32-9B56CAFF75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C991F6-0D1E-21FF-64C6-1F634CB290FF}"/>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2815681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5FB1-1C6C-D8FF-04F2-1C16A85132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A7DC13-46C6-97D0-C33D-5901896EB8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1D9404-C637-4798-A8C1-231D111F09B1}"/>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5" name="Footer Placeholder 4">
            <a:extLst>
              <a:ext uri="{FF2B5EF4-FFF2-40B4-BE49-F238E27FC236}">
                <a16:creationId xmlns:a16="http://schemas.microsoft.com/office/drawing/2014/main" id="{1DFD3FD3-6300-05C8-8C7A-0F912E8108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CC647BC-50B5-9D6D-4CE4-7EACF487B8F9}"/>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1715635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79F0-532A-0B12-5AB6-A6165DD679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2F87FF-4EB8-0DE5-098C-711DEBDF6F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43F91C-A1A8-C964-7BBD-0FA0609F70E0}"/>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5" name="Footer Placeholder 4">
            <a:extLst>
              <a:ext uri="{FF2B5EF4-FFF2-40B4-BE49-F238E27FC236}">
                <a16:creationId xmlns:a16="http://schemas.microsoft.com/office/drawing/2014/main" id="{489FAD8E-8273-D9EB-1F3B-EF202CE3C5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44AD89-53D7-0BB3-492D-A322622BD08A}"/>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146451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47589-714F-A951-4D13-B973BE410E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6449BB-8636-FEDB-F8E7-1D80CDFDE6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4E48FF-8DAC-AE32-9937-56DD5DE8A4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DFD325-DE70-4591-207B-17260FD015E3}"/>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6" name="Footer Placeholder 5">
            <a:extLst>
              <a:ext uri="{FF2B5EF4-FFF2-40B4-BE49-F238E27FC236}">
                <a16:creationId xmlns:a16="http://schemas.microsoft.com/office/drawing/2014/main" id="{C82F9DE4-57AF-A698-0EA7-47239BA9835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8AAAEB0-1122-EC8E-5F10-BE6EF285645D}"/>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3900696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470E8-E308-0E46-A4A1-BC83BFC666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0304AD-E45C-460C-A7A0-A5153C588F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2707A-D2B2-664B-3A1F-6E2B1C196F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9E6233-EA96-AECA-FEA3-93655C29F1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E4F9A2-0CDD-5C2B-9D84-30DB1F6019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6D5026-166D-8D87-15DF-6D6BFBF3762F}"/>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8" name="Footer Placeholder 7">
            <a:extLst>
              <a:ext uri="{FF2B5EF4-FFF2-40B4-BE49-F238E27FC236}">
                <a16:creationId xmlns:a16="http://schemas.microsoft.com/office/drawing/2014/main" id="{AA99130F-DAD2-F5E1-BDB1-E8C84D24146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956178A-06CA-7865-2F40-EDB57D36532B}"/>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1905339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D675D-5209-2526-F6D3-716DAC9398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AF069C-FF4D-58F2-FB00-D6B86F35CC6F}"/>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4" name="Footer Placeholder 3">
            <a:extLst>
              <a:ext uri="{FF2B5EF4-FFF2-40B4-BE49-F238E27FC236}">
                <a16:creationId xmlns:a16="http://schemas.microsoft.com/office/drawing/2014/main" id="{6B39D4AB-97B6-AA9D-3462-7CFD4352C9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2370F4-D6ED-5B40-B4D6-C8A0555E6816}"/>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280969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ADD89D-140D-3863-3A5F-2BFB4D64F30B}"/>
              </a:ext>
            </a:extLst>
          </p:cNvPr>
          <p:cNvSpPr>
            <a:spLocks noGrp="1"/>
          </p:cNvSpPr>
          <p:nvPr>
            <p:ph type="dt" sz="half" idx="10"/>
          </p:nvPr>
        </p:nvSpPr>
        <p:spPr/>
        <p:txBody>
          <a:bodyPr/>
          <a:lstStyle/>
          <a:p>
            <a:fld id="{A5B0A250-5CC0-1746-B209-08E8B0DAE6AF}" type="datetimeFigureOut">
              <a:rPr lang="en-US" smtClean="0"/>
              <a:pPr/>
              <a:t>16/05</a:t>
            </a:fld>
            <a:endParaRPr lang="en-US" dirty="0"/>
          </a:p>
        </p:txBody>
      </p:sp>
      <p:sp>
        <p:nvSpPr>
          <p:cNvPr id="3" name="Footer Placeholder 2">
            <a:extLst>
              <a:ext uri="{FF2B5EF4-FFF2-40B4-BE49-F238E27FC236}">
                <a16:creationId xmlns:a16="http://schemas.microsoft.com/office/drawing/2014/main" id="{E49A8573-FC19-A812-65C2-783D349D02A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996B309-9DFF-DC4F-A445-16830A061610}"/>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23066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45B18-C215-8B34-2039-FEA18D2D23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22963C-D931-8788-F7EB-B0CFAA884D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3D13D6-4B69-13AC-7184-E56F5BB96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E7FEAB-825B-2D66-7AF8-F626ACB4B2E2}"/>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6" name="Footer Placeholder 5">
            <a:extLst>
              <a:ext uri="{FF2B5EF4-FFF2-40B4-BE49-F238E27FC236}">
                <a16:creationId xmlns:a16="http://schemas.microsoft.com/office/drawing/2014/main" id="{538ED2F6-0678-A60E-6D39-5B0611CD2D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4DDBDF-1882-9787-F807-B89AD41AE7DF}"/>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25967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BE91-D0F5-5AF7-5691-AC340AEAD0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B65C7C-DE0A-859C-AC80-71C45ECA9F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63D0459-C647-B070-5F48-CF231732E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3A9E7-A793-9340-B634-91E6FEDA4B94}"/>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6" name="Footer Placeholder 5">
            <a:extLst>
              <a:ext uri="{FF2B5EF4-FFF2-40B4-BE49-F238E27FC236}">
                <a16:creationId xmlns:a16="http://schemas.microsoft.com/office/drawing/2014/main" id="{9A78AC00-ED4E-8A5D-0A0A-5766D43510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1B31DE-E718-6174-A388-682D113E7D6A}"/>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3158276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B58B2-A1FE-D659-8412-0AC10F6836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0417F2-9D6B-86EE-12A9-A8FD6BE6E0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D35134-C735-346C-3986-FA4CAA732C94}"/>
              </a:ext>
            </a:extLst>
          </p:cNvPr>
          <p:cNvSpPr>
            <a:spLocks noGrp="1"/>
          </p:cNvSpPr>
          <p:nvPr>
            <p:ph type="dt" sz="half" idx="10"/>
          </p:nvPr>
        </p:nvSpPr>
        <p:spPr/>
        <p:txBody>
          <a:bodyPr/>
          <a:lstStyle/>
          <a:p>
            <a:fld id="{A5B0A250-5CC0-1746-B209-08E8B0DAE6AF}" type="datetimeFigureOut">
              <a:rPr lang="en-US" smtClean="0"/>
              <a:t>16/05</a:t>
            </a:fld>
            <a:endParaRPr lang="en-US" dirty="0"/>
          </a:p>
        </p:txBody>
      </p:sp>
      <p:sp>
        <p:nvSpPr>
          <p:cNvPr id="5" name="Footer Placeholder 4">
            <a:extLst>
              <a:ext uri="{FF2B5EF4-FFF2-40B4-BE49-F238E27FC236}">
                <a16:creationId xmlns:a16="http://schemas.microsoft.com/office/drawing/2014/main" id="{D83FF536-5AD9-0572-6D30-4877DC5376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F7E1AB1-9603-7BFA-C5AD-A85A57A04ACE}"/>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167273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96A5CE-69CA-5C58-8C1E-69E2D64169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7B60B-F9CB-419D-B7A8-FDA459C04C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7E3A2-B444-4FB9-A99A-9F77B9572233}"/>
              </a:ext>
            </a:extLst>
          </p:cNvPr>
          <p:cNvSpPr>
            <a:spLocks noGrp="1"/>
          </p:cNvSpPr>
          <p:nvPr>
            <p:ph type="dt" sz="half" idx="10"/>
          </p:nvPr>
        </p:nvSpPr>
        <p:spPr/>
        <p:txBody>
          <a:bodyPr/>
          <a:lstStyle/>
          <a:p>
            <a:fld id="{A5B0A250-5CC0-1746-B209-08E8B0DAE6AF}" type="datetimeFigureOut">
              <a:rPr lang="en-US" smtClean="0"/>
              <a:t>16/05</a:t>
            </a:fld>
            <a:endParaRPr lang="en-US"/>
          </a:p>
        </p:txBody>
      </p:sp>
      <p:sp>
        <p:nvSpPr>
          <p:cNvPr id="5" name="Footer Placeholder 4">
            <a:extLst>
              <a:ext uri="{FF2B5EF4-FFF2-40B4-BE49-F238E27FC236}">
                <a16:creationId xmlns:a16="http://schemas.microsoft.com/office/drawing/2014/main" id="{B46698F5-7089-AF7B-A167-D05DBC04E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46DEB-0DE6-7762-A41B-BF60985092CA}"/>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996928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EBD7B0-0FDB-C9A3-169F-6E2DBCE5BF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F8036A-D830-FB94-7E99-F8DD3F28A5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BA57E2-1FAC-D66F-D494-C04544CACF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B0A250-5CC0-1746-B209-08E8B0DAE6AF}" type="datetimeFigureOut">
              <a:rPr lang="en-US" smtClean="0"/>
              <a:pPr/>
              <a:t>16/05</a:t>
            </a:fld>
            <a:endParaRPr lang="en-US" dirty="0"/>
          </a:p>
        </p:txBody>
      </p:sp>
      <p:sp>
        <p:nvSpPr>
          <p:cNvPr id="5" name="Footer Placeholder 4">
            <a:extLst>
              <a:ext uri="{FF2B5EF4-FFF2-40B4-BE49-F238E27FC236}">
                <a16:creationId xmlns:a16="http://schemas.microsoft.com/office/drawing/2014/main" id="{4FC17EED-71B1-510B-9C1C-950C64BB96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9E36087-DB35-52D7-1085-A292A5C1BD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49939193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B101CE2-FCEB-9C5E-0C23-61B01A24EC52}"/>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3650DA5F-3282-37EB-0325-310201345134}"/>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8" name="TextBox 7">
            <a:extLst>
              <a:ext uri="{FF2B5EF4-FFF2-40B4-BE49-F238E27FC236}">
                <a16:creationId xmlns:a16="http://schemas.microsoft.com/office/drawing/2014/main" id="{A4CE6AB3-611E-BA44-6945-B6E8F0D26C3A}"/>
              </a:ext>
            </a:extLst>
          </p:cNvPr>
          <p:cNvSpPr txBox="1"/>
          <p:nvPr/>
        </p:nvSpPr>
        <p:spPr>
          <a:xfrm>
            <a:off x="3375865" y="2791806"/>
            <a:ext cx="6030818" cy="1569660"/>
          </a:xfrm>
          <a:prstGeom prst="rect">
            <a:avLst/>
          </a:prstGeom>
          <a:noFill/>
        </p:spPr>
        <p:txBody>
          <a:bodyPr wrap="none" rtlCol="0">
            <a:spAutoFit/>
          </a:bodyPr>
          <a:lstStyle/>
          <a:p>
            <a:r>
              <a:rPr lang="en-US" sz="9600" b="1">
                <a:solidFill>
                  <a:srgbClr val="92D050"/>
                </a:solidFill>
              </a:rPr>
              <a:t>LISTENING</a:t>
            </a:r>
          </a:p>
        </p:txBody>
      </p:sp>
    </p:spTree>
    <p:extLst>
      <p:ext uri="{BB962C8B-B14F-4D97-AF65-F5344CB8AC3E}">
        <p14:creationId xmlns:p14="http://schemas.microsoft.com/office/powerpoint/2010/main" val="369629976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98CC4-443F-AED1-9085-8DDBF5E06FFB}"/>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038264B6-1E82-E26D-1C54-3732CEFDDBC6}"/>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4ADC3888-7ED3-6442-DF6F-9DF5F8335C9A}"/>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pic>
        <p:nvPicPr>
          <p:cNvPr id="1026" name="Picture 2" descr="Shop Assistant Vectores, Iconos, Gráficos y Fondos para Descargar Gratis">
            <a:extLst>
              <a:ext uri="{FF2B5EF4-FFF2-40B4-BE49-F238E27FC236}">
                <a16:creationId xmlns:a16="http://schemas.microsoft.com/office/drawing/2014/main" id="{CA749CCF-FFE3-39BD-F0BB-E730C6E77D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1072" y="1568284"/>
            <a:ext cx="1656711" cy="16567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aching Vector Art, Icons, and Graphics for Free Download">
            <a:extLst>
              <a:ext uri="{FF2B5EF4-FFF2-40B4-BE49-F238E27FC236}">
                <a16:creationId xmlns:a16="http://schemas.microsoft.com/office/drawing/2014/main" id="{9A39C8F3-37FF-9E8B-125A-DB5625B596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0662" y="1882340"/>
            <a:ext cx="1840206" cy="184020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entist Patient Consultation Tooth Doctor Dental Health Care Flat  Illustration 6955830 Vector Art at Vecteezy">
            <a:extLst>
              <a:ext uri="{FF2B5EF4-FFF2-40B4-BE49-F238E27FC236}">
                <a16:creationId xmlns:a16="http://schemas.microsoft.com/office/drawing/2014/main" id="{FCBCD00E-A2C8-1241-FD95-F93BA74FEF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5426" y="4836278"/>
            <a:ext cx="1876966" cy="187696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 5 | Office Cleaning Vector Art, Icons, and Graphics for Free Download">
            <a:extLst>
              <a:ext uri="{FF2B5EF4-FFF2-40B4-BE49-F238E27FC236}">
                <a16:creationId xmlns:a16="http://schemas.microsoft.com/office/drawing/2014/main" id="{7F36A703-79D8-F724-6469-5A336AB12A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3205" y="3814122"/>
            <a:ext cx="2044312" cy="204431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ge 2 | Police Officer Vector Art, Icons, and Graphics for Free Download">
            <a:extLst>
              <a:ext uri="{FF2B5EF4-FFF2-40B4-BE49-F238E27FC236}">
                <a16:creationId xmlns:a16="http://schemas.microsoft.com/office/drawing/2014/main" id="{69680F46-4037-5873-114B-06637D4B87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54505" y="1616070"/>
            <a:ext cx="1806423" cy="180642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Woman Doctor Vector Art, Icons, and Graphics for Free Download">
            <a:extLst>
              <a:ext uri="{FF2B5EF4-FFF2-40B4-BE49-F238E27FC236}">
                <a16:creationId xmlns:a16="http://schemas.microsoft.com/office/drawing/2014/main" id="{DE437D3D-2929-9CD3-242B-A2B291F4951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27712" y="4761307"/>
            <a:ext cx="1840206" cy="184020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ge 7 | Pilot Vector Art, Icons, and Graphics for Free Download">
            <a:extLst>
              <a:ext uri="{FF2B5EF4-FFF2-40B4-BE49-F238E27FC236}">
                <a16:creationId xmlns:a16="http://schemas.microsoft.com/office/drawing/2014/main" id="{ABBC3C45-AA05-07B0-73E7-11DCB4FF619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9289" y="4337379"/>
            <a:ext cx="2044311" cy="204431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Nurse Vector Art, Icons, and Graphics for Free Download">
            <a:extLst>
              <a:ext uri="{FF2B5EF4-FFF2-40B4-BE49-F238E27FC236}">
                <a16:creationId xmlns:a16="http://schemas.microsoft.com/office/drawing/2014/main" id="{5ACBCE0E-C8C7-9CA9-38C0-926263570FE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5699" y="1417276"/>
            <a:ext cx="1840206" cy="18402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388B42-B74F-EC62-822B-8EF6C13FA013}"/>
              </a:ext>
            </a:extLst>
          </p:cNvPr>
          <p:cNvSpPr txBox="1"/>
          <p:nvPr/>
        </p:nvSpPr>
        <p:spPr>
          <a:xfrm>
            <a:off x="1431072" y="3316742"/>
            <a:ext cx="1723549" cy="400110"/>
          </a:xfrm>
          <a:prstGeom prst="rect">
            <a:avLst/>
          </a:prstGeom>
          <a:noFill/>
        </p:spPr>
        <p:txBody>
          <a:bodyPr wrap="none" rtlCol="0">
            <a:spAutoFit/>
          </a:bodyPr>
          <a:lstStyle/>
          <a:p>
            <a:r>
              <a:rPr lang="en-US" sz="2000">
                <a:solidFill>
                  <a:srgbClr val="92D050"/>
                </a:solidFill>
              </a:rPr>
              <a:t>shop assistant</a:t>
            </a:r>
          </a:p>
        </p:txBody>
      </p:sp>
      <p:sp>
        <p:nvSpPr>
          <p:cNvPr id="9" name="TextBox 8">
            <a:extLst>
              <a:ext uri="{FF2B5EF4-FFF2-40B4-BE49-F238E27FC236}">
                <a16:creationId xmlns:a16="http://schemas.microsoft.com/office/drawing/2014/main" id="{BE61A84F-1156-92A9-771F-CDF02EE72B66}"/>
              </a:ext>
            </a:extLst>
          </p:cNvPr>
          <p:cNvSpPr txBox="1"/>
          <p:nvPr/>
        </p:nvSpPr>
        <p:spPr>
          <a:xfrm>
            <a:off x="3720467" y="1308969"/>
            <a:ext cx="1000595" cy="400110"/>
          </a:xfrm>
          <a:prstGeom prst="rect">
            <a:avLst/>
          </a:prstGeom>
          <a:noFill/>
        </p:spPr>
        <p:txBody>
          <a:bodyPr wrap="none" rtlCol="0">
            <a:spAutoFit/>
          </a:bodyPr>
          <a:lstStyle/>
          <a:p>
            <a:r>
              <a:rPr lang="en-US" sz="2000">
                <a:solidFill>
                  <a:srgbClr val="92D050"/>
                </a:solidFill>
              </a:rPr>
              <a:t>teacher</a:t>
            </a:r>
          </a:p>
        </p:txBody>
      </p:sp>
      <p:sp>
        <p:nvSpPr>
          <p:cNvPr id="10" name="TextBox 9">
            <a:extLst>
              <a:ext uri="{FF2B5EF4-FFF2-40B4-BE49-F238E27FC236}">
                <a16:creationId xmlns:a16="http://schemas.microsoft.com/office/drawing/2014/main" id="{E8014B10-6740-B941-6705-89683AC5863B}"/>
              </a:ext>
            </a:extLst>
          </p:cNvPr>
          <p:cNvSpPr txBox="1"/>
          <p:nvPr/>
        </p:nvSpPr>
        <p:spPr>
          <a:xfrm>
            <a:off x="6241303" y="3322436"/>
            <a:ext cx="788999" cy="400110"/>
          </a:xfrm>
          <a:prstGeom prst="rect">
            <a:avLst/>
          </a:prstGeom>
          <a:noFill/>
        </p:spPr>
        <p:txBody>
          <a:bodyPr wrap="none" rtlCol="0">
            <a:spAutoFit/>
          </a:bodyPr>
          <a:lstStyle/>
          <a:p>
            <a:r>
              <a:rPr lang="en-US" sz="2000">
                <a:solidFill>
                  <a:srgbClr val="92D050"/>
                </a:solidFill>
              </a:rPr>
              <a:t>nurse</a:t>
            </a:r>
          </a:p>
        </p:txBody>
      </p:sp>
      <p:sp>
        <p:nvSpPr>
          <p:cNvPr id="11" name="TextBox 10">
            <a:extLst>
              <a:ext uri="{FF2B5EF4-FFF2-40B4-BE49-F238E27FC236}">
                <a16:creationId xmlns:a16="http://schemas.microsoft.com/office/drawing/2014/main" id="{FC4162CD-E0F0-7867-6B5A-50CD5D116168}"/>
              </a:ext>
            </a:extLst>
          </p:cNvPr>
          <p:cNvSpPr txBox="1"/>
          <p:nvPr/>
        </p:nvSpPr>
        <p:spPr>
          <a:xfrm>
            <a:off x="2473024" y="6457890"/>
            <a:ext cx="681597" cy="400110"/>
          </a:xfrm>
          <a:prstGeom prst="rect">
            <a:avLst/>
          </a:prstGeom>
          <a:noFill/>
        </p:spPr>
        <p:txBody>
          <a:bodyPr wrap="none" rtlCol="0">
            <a:spAutoFit/>
          </a:bodyPr>
          <a:lstStyle/>
          <a:p>
            <a:r>
              <a:rPr lang="en-US" sz="2000">
                <a:solidFill>
                  <a:srgbClr val="92D050"/>
                </a:solidFill>
              </a:rPr>
              <a:t>pilot</a:t>
            </a:r>
          </a:p>
        </p:txBody>
      </p:sp>
      <p:sp>
        <p:nvSpPr>
          <p:cNvPr id="12" name="TextBox 11">
            <a:extLst>
              <a:ext uri="{FF2B5EF4-FFF2-40B4-BE49-F238E27FC236}">
                <a16:creationId xmlns:a16="http://schemas.microsoft.com/office/drawing/2014/main" id="{9CF960FE-3724-AFE5-1DCE-736D25FA813D}"/>
              </a:ext>
            </a:extLst>
          </p:cNvPr>
          <p:cNvSpPr txBox="1"/>
          <p:nvPr/>
        </p:nvSpPr>
        <p:spPr>
          <a:xfrm>
            <a:off x="5341698" y="4265949"/>
            <a:ext cx="899605" cy="400110"/>
          </a:xfrm>
          <a:prstGeom prst="rect">
            <a:avLst/>
          </a:prstGeom>
          <a:noFill/>
        </p:spPr>
        <p:txBody>
          <a:bodyPr wrap="none" rtlCol="0">
            <a:spAutoFit/>
          </a:bodyPr>
          <a:lstStyle/>
          <a:p>
            <a:r>
              <a:rPr lang="en-US" sz="2000">
                <a:solidFill>
                  <a:srgbClr val="92D050"/>
                </a:solidFill>
              </a:rPr>
              <a:t>doctor</a:t>
            </a:r>
          </a:p>
        </p:txBody>
      </p:sp>
      <p:sp>
        <p:nvSpPr>
          <p:cNvPr id="13" name="TextBox 12">
            <a:extLst>
              <a:ext uri="{FF2B5EF4-FFF2-40B4-BE49-F238E27FC236}">
                <a16:creationId xmlns:a16="http://schemas.microsoft.com/office/drawing/2014/main" id="{67E8EDEA-FEEE-5965-2753-4AFE4CFE48A4}"/>
              </a:ext>
            </a:extLst>
          </p:cNvPr>
          <p:cNvSpPr txBox="1"/>
          <p:nvPr/>
        </p:nvSpPr>
        <p:spPr>
          <a:xfrm>
            <a:off x="9184856" y="1119479"/>
            <a:ext cx="1576072" cy="400110"/>
          </a:xfrm>
          <a:prstGeom prst="rect">
            <a:avLst/>
          </a:prstGeom>
          <a:noFill/>
        </p:spPr>
        <p:txBody>
          <a:bodyPr wrap="none" rtlCol="0">
            <a:spAutoFit/>
          </a:bodyPr>
          <a:lstStyle/>
          <a:p>
            <a:r>
              <a:rPr lang="en-US" sz="2000">
                <a:solidFill>
                  <a:srgbClr val="92D050"/>
                </a:solidFill>
              </a:rPr>
              <a:t>police officer</a:t>
            </a:r>
          </a:p>
        </p:txBody>
      </p:sp>
      <p:sp>
        <p:nvSpPr>
          <p:cNvPr id="14" name="TextBox 13">
            <a:extLst>
              <a:ext uri="{FF2B5EF4-FFF2-40B4-BE49-F238E27FC236}">
                <a16:creationId xmlns:a16="http://schemas.microsoft.com/office/drawing/2014/main" id="{A649E5C0-6261-692F-7015-AF10CC7BC905}"/>
              </a:ext>
            </a:extLst>
          </p:cNvPr>
          <p:cNvSpPr txBox="1"/>
          <p:nvPr/>
        </p:nvSpPr>
        <p:spPr>
          <a:xfrm>
            <a:off x="7406936" y="5899340"/>
            <a:ext cx="981359" cy="400110"/>
          </a:xfrm>
          <a:prstGeom prst="rect">
            <a:avLst/>
          </a:prstGeom>
          <a:noFill/>
        </p:spPr>
        <p:txBody>
          <a:bodyPr wrap="none" rtlCol="0">
            <a:spAutoFit/>
          </a:bodyPr>
          <a:lstStyle/>
          <a:p>
            <a:r>
              <a:rPr lang="en-US" sz="2000">
                <a:solidFill>
                  <a:srgbClr val="92D050"/>
                </a:solidFill>
              </a:rPr>
              <a:t>cleaner</a:t>
            </a:r>
          </a:p>
        </p:txBody>
      </p:sp>
      <p:sp>
        <p:nvSpPr>
          <p:cNvPr id="15" name="TextBox 14">
            <a:extLst>
              <a:ext uri="{FF2B5EF4-FFF2-40B4-BE49-F238E27FC236}">
                <a16:creationId xmlns:a16="http://schemas.microsoft.com/office/drawing/2014/main" id="{57424B76-ACE7-C1A3-3E30-B2FB8A5A2FBC}"/>
              </a:ext>
            </a:extLst>
          </p:cNvPr>
          <p:cNvSpPr txBox="1"/>
          <p:nvPr/>
        </p:nvSpPr>
        <p:spPr>
          <a:xfrm>
            <a:off x="10134870" y="4307583"/>
            <a:ext cx="938077" cy="400110"/>
          </a:xfrm>
          <a:prstGeom prst="rect">
            <a:avLst/>
          </a:prstGeom>
          <a:noFill/>
        </p:spPr>
        <p:txBody>
          <a:bodyPr wrap="none" rtlCol="0">
            <a:spAutoFit/>
          </a:bodyPr>
          <a:lstStyle/>
          <a:p>
            <a:r>
              <a:rPr lang="en-US" sz="2000">
                <a:solidFill>
                  <a:srgbClr val="92D050"/>
                </a:solidFill>
              </a:rPr>
              <a:t>dentist</a:t>
            </a:r>
          </a:p>
        </p:txBody>
      </p:sp>
    </p:spTree>
    <p:extLst>
      <p:ext uri="{BB962C8B-B14F-4D97-AF65-F5344CB8AC3E}">
        <p14:creationId xmlns:p14="http://schemas.microsoft.com/office/powerpoint/2010/main" val="112266303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AC23A-B300-221C-6FF1-02FA03A95F89}"/>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3B0019C5-09B5-B5EF-A207-89B93E150B9E}"/>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89C771E9-F553-E010-1EED-89DF60693169}"/>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5951AF45-4D66-5E94-5252-C19C3FA0ECE4}"/>
              </a:ext>
            </a:extLst>
          </p:cNvPr>
          <p:cNvSpPr txBox="1"/>
          <p:nvPr/>
        </p:nvSpPr>
        <p:spPr>
          <a:xfrm>
            <a:off x="2450930" y="1578766"/>
            <a:ext cx="7880684" cy="584775"/>
          </a:xfrm>
          <a:prstGeom prst="rect">
            <a:avLst/>
          </a:prstGeom>
          <a:noFill/>
        </p:spPr>
        <p:txBody>
          <a:bodyPr wrap="none" rtlCol="0">
            <a:spAutoFit/>
          </a:bodyPr>
          <a:lstStyle/>
          <a:p>
            <a:r>
              <a:rPr lang="en-US" sz="3200" b="1">
                <a:solidFill>
                  <a:srgbClr val="92D050"/>
                </a:solidFill>
              </a:rPr>
              <a:t>1. Fill in the gap to complete the sentences</a:t>
            </a:r>
          </a:p>
        </p:txBody>
      </p:sp>
      <p:sp>
        <p:nvSpPr>
          <p:cNvPr id="3" name="TextBox 2">
            <a:extLst>
              <a:ext uri="{FF2B5EF4-FFF2-40B4-BE49-F238E27FC236}">
                <a16:creationId xmlns:a16="http://schemas.microsoft.com/office/drawing/2014/main" id="{D10D5921-AC84-8B52-F0EA-748F3A24CE72}"/>
              </a:ext>
            </a:extLst>
          </p:cNvPr>
          <p:cNvSpPr txBox="1"/>
          <p:nvPr/>
        </p:nvSpPr>
        <p:spPr>
          <a:xfrm>
            <a:off x="3359031" y="2598982"/>
            <a:ext cx="6064481" cy="2804037"/>
          </a:xfrm>
          <a:prstGeom prst="rect">
            <a:avLst/>
          </a:prstGeom>
          <a:noFill/>
        </p:spPr>
        <p:txBody>
          <a:bodyPr wrap="none" rtlCol="0">
            <a:spAutoFit/>
          </a:bodyPr>
          <a:lstStyle/>
          <a:p>
            <a:pPr>
              <a:lnSpc>
                <a:spcPct val="150000"/>
              </a:lnSpc>
            </a:pPr>
            <a:r>
              <a:rPr lang="en-US" sz="2400">
                <a:solidFill>
                  <a:schemeClr val="bg1">
                    <a:lumMod val="95000"/>
                  </a:schemeClr>
                </a:solidFill>
              </a:rPr>
              <a:t>1. Speaker A works as a __________________.</a:t>
            </a:r>
          </a:p>
          <a:p>
            <a:pPr>
              <a:lnSpc>
                <a:spcPct val="150000"/>
              </a:lnSpc>
            </a:pPr>
            <a:r>
              <a:rPr lang="en-US" sz="2400">
                <a:solidFill>
                  <a:schemeClr val="bg1">
                    <a:lumMod val="95000"/>
                  </a:schemeClr>
                </a:solidFill>
              </a:rPr>
              <a:t>2. Speaker B works as a __________________.</a:t>
            </a:r>
          </a:p>
          <a:p>
            <a:pPr>
              <a:lnSpc>
                <a:spcPct val="150000"/>
              </a:lnSpc>
            </a:pPr>
            <a:r>
              <a:rPr lang="en-US" sz="2400">
                <a:solidFill>
                  <a:schemeClr val="bg1">
                    <a:lumMod val="95000"/>
                  </a:schemeClr>
                </a:solidFill>
              </a:rPr>
              <a:t>3. Speaker C works as a __________________.</a:t>
            </a:r>
          </a:p>
          <a:p>
            <a:pPr>
              <a:lnSpc>
                <a:spcPct val="150000"/>
              </a:lnSpc>
            </a:pPr>
            <a:r>
              <a:rPr lang="en-US" sz="2400">
                <a:solidFill>
                  <a:schemeClr val="bg1">
                    <a:lumMod val="95000"/>
                  </a:schemeClr>
                </a:solidFill>
              </a:rPr>
              <a:t>4. Speaker D works as a __________________.</a:t>
            </a:r>
          </a:p>
          <a:p>
            <a:pPr>
              <a:lnSpc>
                <a:spcPct val="150000"/>
              </a:lnSpc>
            </a:pPr>
            <a:r>
              <a:rPr lang="en-US" sz="2400">
                <a:solidFill>
                  <a:schemeClr val="bg1">
                    <a:lumMod val="95000"/>
                  </a:schemeClr>
                </a:solidFill>
              </a:rPr>
              <a:t>5. Speaker E works as a __________________.</a:t>
            </a:r>
          </a:p>
        </p:txBody>
      </p:sp>
    </p:spTree>
    <p:extLst>
      <p:ext uri="{BB962C8B-B14F-4D97-AF65-F5344CB8AC3E}">
        <p14:creationId xmlns:p14="http://schemas.microsoft.com/office/powerpoint/2010/main" val="192454954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36784-F4B2-4352-55FD-59353A96FA80}"/>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D94455B3-9D91-4D1A-5AE1-619C9D4F03E4}"/>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3880DEDA-3CB7-9C9B-85D3-CA223166B6F9}"/>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8E9034E8-BECD-3B9F-E4AA-FEE97D40F76E}"/>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C9170DD3-DE18-69C3-3D7B-FD46DC6FA39F}"/>
              </a:ext>
            </a:extLst>
          </p:cNvPr>
          <p:cNvSpPr txBox="1"/>
          <p:nvPr/>
        </p:nvSpPr>
        <p:spPr>
          <a:xfrm>
            <a:off x="4166142" y="2598982"/>
            <a:ext cx="4450257" cy="2250040"/>
          </a:xfrm>
          <a:prstGeom prst="rect">
            <a:avLst/>
          </a:prstGeom>
          <a:noFill/>
        </p:spPr>
        <p:txBody>
          <a:bodyPr wrap="none" rtlCol="0">
            <a:spAutoFit/>
          </a:bodyPr>
          <a:lstStyle/>
          <a:p>
            <a:pPr>
              <a:lnSpc>
                <a:spcPct val="150000"/>
              </a:lnSpc>
            </a:pPr>
            <a:r>
              <a:rPr lang="en-US" sz="2400" b="1">
                <a:solidFill>
                  <a:schemeClr val="bg1">
                    <a:lumMod val="95000"/>
                  </a:schemeClr>
                </a:solidFill>
              </a:rPr>
              <a:t>1. Does speaker A enjoy his job?</a:t>
            </a:r>
          </a:p>
          <a:p>
            <a:pPr>
              <a:lnSpc>
                <a:spcPct val="150000"/>
              </a:lnSpc>
            </a:pPr>
            <a:r>
              <a:rPr lang="en-US" sz="2400">
                <a:solidFill>
                  <a:schemeClr val="bg1">
                    <a:lumMod val="95000"/>
                  </a:schemeClr>
                </a:solidFill>
              </a:rPr>
              <a:t>A. Yes</a:t>
            </a:r>
          </a:p>
          <a:p>
            <a:pPr>
              <a:lnSpc>
                <a:spcPct val="150000"/>
              </a:lnSpc>
            </a:pPr>
            <a:r>
              <a:rPr lang="en-US" sz="2400">
                <a:solidFill>
                  <a:schemeClr val="bg1">
                    <a:lumMod val="95000"/>
                  </a:schemeClr>
                </a:solidFill>
              </a:rPr>
              <a:t>B. Sometimes</a:t>
            </a:r>
          </a:p>
          <a:p>
            <a:pPr>
              <a:lnSpc>
                <a:spcPct val="150000"/>
              </a:lnSpc>
            </a:pPr>
            <a:r>
              <a:rPr lang="en-US" sz="2400">
                <a:solidFill>
                  <a:schemeClr val="bg1">
                    <a:lumMod val="95000"/>
                  </a:schemeClr>
                </a:solidFill>
              </a:rPr>
              <a:t>C. No</a:t>
            </a:r>
          </a:p>
        </p:txBody>
      </p:sp>
    </p:spTree>
    <p:extLst>
      <p:ext uri="{BB962C8B-B14F-4D97-AF65-F5344CB8AC3E}">
        <p14:creationId xmlns:p14="http://schemas.microsoft.com/office/powerpoint/2010/main" val="273120270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20B6-D0A4-76AB-77B5-623474601265}"/>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0DAE34CC-DFA9-B403-8900-C88D168C6ED3}"/>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BE1788A0-A2E8-E756-4BB6-CBD5628804EE}"/>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387F049C-AD5C-D3FB-0A3A-743186317F81}"/>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4724F62C-D0EA-8B9F-DF42-A77F3A9E1A9B}"/>
              </a:ext>
            </a:extLst>
          </p:cNvPr>
          <p:cNvSpPr txBox="1"/>
          <p:nvPr/>
        </p:nvSpPr>
        <p:spPr>
          <a:xfrm>
            <a:off x="4266330" y="2598982"/>
            <a:ext cx="4249881" cy="2250040"/>
          </a:xfrm>
          <a:prstGeom prst="rect">
            <a:avLst/>
          </a:prstGeom>
          <a:noFill/>
        </p:spPr>
        <p:txBody>
          <a:bodyPr wrap="none" rtlCol="0">
            <a:spAutoFit/>
          </a:bodyPr>
          <a:lstStyle/>
          <a:p>
            <a:pPr>
              <a:lnSpc>
                <a:spcPct val="150000"/>
              </a:lnSpc>
            </a:pPr>
            <a:r>
              <a:rPr lang="en-US" sz="2400" b="1">
                <a:solidFill>
                  <a:schemeClr val="bg1">
                    <a:lumMod val="95000"/>
                  </a:schemeClr>
                </a:solidFill>
              </a:rPr>
              <a:t>2. When does speaker A work?</a:t>
            </a:r>
          </a:p>
          <a:p>
            <a:pPr>
              <a:lnSpc>
                <a:spcPct val="150000"/>
              </a:lnSpc>
            </a:pPr>
            <a:r>
              <a:rPr lang="en-US" sz="2400">
                <a:solidFill>
                  <a:schemeClr val="bg1">
                    <a:lumMod val="95000"/>
                  </a:schemeClr>
                </a:solidFill>
              </a:rPr>
              <a:t>A. When he is at university</a:t>
            </a:r>
          </a:p>
          <a:p>
            <a:pPr>
              <a:lnSpc>
                <a:spcPct val="150000"/>
              </a:lnSpc>
            </a:pPr>
            <a:r>
              <a:rPr lang="en-US" sz="2400">
                <a:solidFill>
                  <a:schemeClr val="bg1">
                    <a:lumMod val="95000"/>
                  </a:schemeClr>
                </a:solidFill>
              </a:rPr>
              <a:t>B. Weekends</a:t>
            </a:r>
          </a:p>
          <a:p>
            <a:pPr>
              <a:lnSpc>
                <a:spcPct val="150000"/>
              </a:lnSpc>
            </a:pPr>
            <a:r>
              <a:rPr lang="en-US" sz="2400">
                <a:solidFill>
                  <a:schemeClr val="bg1">
                    <a:lumMod val="95000"/>
                  </a:schemeClr>
                </a:solidFill>
              </a:rPr>
              <a:t>C. Summer holidays</a:t>
            </a:r>
          </a:p>
        </p:txBody>
      </p:sp>
    </p:spTree>
    <p:extLst>
      <p:ext uri="{BB962C8B-B14F-4D97-AF65-F5344CB8AC3E}">
        <p14:creationId xmlns:p14="http://schemas.microsoft.com/office/powerpoint/2010/main" val="256786064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FEFFC-E5FA-CDA0-551D-26B38CCAD097}"/>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B2594A07-B058-538C-078E-9825A10A61B2}"/>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BEF52442-34AA-DCAA-1DB6-AB1E66854B6D}"/>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6D5D3230-D177-D7E2-F60E-4659644068DD}"/>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0BF5715E-ABBA-33D3-706E-EEBF1F0B0E2D}"/>
              </a:ext>
            </a:extLst>
          </p:cNvPr>
          <p:cNvSpPr txBox="1"/>
          <p:nvPr/>
        </p:nvSpPr>
        <p:spPr>
          <a:xfrm>
            <a:off x="4261521" y="2598982"/>
            <a:ext cx="4259499" cy="2250040"/>
          </a:xfrm>
          <a:prstGeom prst="rect">
            <a:avLst/>
          </a:prstGeom>
          <a:noFill/>
        </p:spPr>
        <p:txBody>
          <a:bodyPr wrap="none" rtlCol="0">
            <a:spAutoFit/>
          </a:bodyPr>
          <a:lstStyle/>
          <a:p>
            <a:pPr>
              <a:lnSpc>
                <a:spcPct val="150000"/>
              </a:lnSpc>
            </a:pPr>
            <a:r>
              <a:rPr lang="en-US" sz="2400" b="1">
                <a:solidFill>
                  <a:schemeClr val="bg1">
                    <a:lumMod val="95000"/>
                  </a:schemeClr>
                </a:solidFill>
              </a:rPr>
              <a:t>3. When does speaker B work?</a:t>
            </a:r>
          </a:p>
          <a:p>
            <a:pPr>
              <a:lnSpc>
                <a:spcPct val="150000"/>
              </a:lnSpc>
            </a:pPr>
            <a:r>
              <a:rPr lang="en-US" sz="2400">
                <a:solidFill>
                  <a:schemeClr val="bg1">
                    <a:lumMod val="95000"/>
                  </a:schemeClr>
                </a:solidFill>
              </a:rPr>
              <a:t>A. Weekdays</a:t>
            </a:r>
          </a:p>
          <a:p>
            <a:pPr>
              <a:lnSpc>
                <a:spcPct val="150000"/>
              </a:lnSpc>
            </a:pPr>
            <a:r>
              <a:rPr lang="en-US" sz="2400">
                <a:solidFill>
                  <a:schemeClr val="bg1">
                    <a:lumMod val="95000"/>
                  </a:schemeClr>
                </a:solidFill>
              </a:rPr>
              <a:t>B. Weekends and holidays</a:t>
            </a:r>
          </a:p>
          <a:p>
            <a:pPr>
              <a:lnSpc>
                <a:spcPct val="150000"/>
              </a:lnSpc>
            </a:pPr>
            <a:r>
              <a:rPr lang="en-US" sz="2400">
                <a:solidFill>
                  <a:schemeClr val="bg1">
                    <a:lumMod val="95000"/>
                  </a:schemeClr>
                </a:solidFill>
              </a:rPr>
              <a:t>C.  Summer holidays</a:t>
            </a:r>
          </a:p>
        </p:txBody>
      </p:sp>
    </p:spTree>
    <p:extLst>
      <p:ext uri="{BB962C8B-B14F-4D97-AF65-F5344CB8AC3E}">
        <p14:creationId xmlns:p14="http://schemas.microsoft.com/office/powerpoint/2010/main" val="256919804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E8346-AF61-B128-0A5B-F77C1E0A19FD}"/>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41C66980-08E0-BF3D-86FF-5963D3E9F211}"/>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052D421B-0A22-1A33-124F-3BEA3938DBD7}"/>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25DAADA7-3F3B-8CE3-76E0-DA39FCC5B9FE}"/>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4B087153-2D16-7526-5F55-67289F19D5F4}"/>
              </a:ext>
            </a:extLst>
          </p:cNvPr>
          <p:cNvSpPr txBox="1"/>
          <p:nvPr/>
        </p:nvSpPr>
        <p:spPr>
          <a:xfrm>
            <a:off x="3111831" y="2617288"/>
            <a:ext cx="6558879" cy="2250040"/>
          </a:xfrm>
          <a:prstGeom prst="rect">
            <a:avLst/>
          </a:prstGeom>
          <a:noFill/>
        </p:spPr>
        <p:txBody>
          <a:bodyPr wrap="square" rtlCol="0">
            <a:spAutoFit/>
          </a:bodyPr>
          <a:lstStyle/>
          <a:p>
            <a:pPr>
              <a:lnSpc>
                <a:spcPct val="150000"/>
              </a:lnSpc>
            </a:pPr>
            <a:r>
              <a:rPr lang="en-US" sz="2400" b="1">
                <a:solidFill>
                  <a:schemeClr val="bg1">
                    <a:lumMod val="95000"/>
                  </a:schemeClr>
                </a:solidFill>
              </a:rPr>
              <a:t>4. What does speaker B say tourists love doing?</a:t>
            </a:r>
          </a:p>
          <a:p>
            <a:pPr>
              <a:lnSpc>
                <a:spcPct val="150000"/>
              </a:lnSpc>
            </a:pPr>
            <a:r>
              <a:rPr lang="en-US" sz="2400">
                <a:solidFill>
                  <a:schemeClr val="bg1">
                    <a:lumMod val="95000"/>
                  </a:schemeClr>
                </a:solidFill>
              </a:rPr>
              <a:t>A. Visiting universities</a:t>
            </a:r>
          </a:p>
          <a:p>
            <a:pPr>
              <a:lnSpc>
                <a:spcPct val="150000"/>
              </a:lnSpc>
            </a:pPr>
            <a:r>
              <a:rPr lang="en-US" sz="2400">
                <a:solidFill>
                  <a:schemeClr val="bg1">
                    <a:lumMod val="95000"/>
                  </a:schemeClr>
                </a:solidFill>
              </a:rPr>
              <a:t>B. Taking a boat trip</a:t>
            </a:r>
          </a:p>
          <a:p>
            <a:pPr>
              <a:lnSpc>
                <a:spcPct val="150000"/>
              </a:lnSpc>
            </a:pPr>
            <a:r>
              <a:rPr lang="en-US" sz="2400">
                <a:solidFill>
                  <a:schemeClr val="bg1">
                    <a:lumMod val="95000"/>
                  </a:schemeClr>
                </a:solidFill>
              </a:rPr>
              <a:t>C.  Swimming in the river</a:t>
            </a:r>
          </a:p>
        </p:txBody>
      </p:sp>
    </p:spTree>
    <p:extLst>
      <p:ext uri="{BB962C8B-B14F-4D97-AF65-F5344CB8AC3E}">
        <p14:creationId xmlns:p14="http://schemas.microsoft.com/office/powerpoint/2010/main" val="426207230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C1F6E-7570-7B99-E4FB-207DC45B6EAA}"/>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1AFED779-B7E3-F98D-AF38-DCB718B47183}"/>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2272EF90-16BD-6BA4-C259-8CB729834988}"/>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030C9D50-0E96-0E63-3782-9E30495A59D8}"/>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C1005485-0780-13D1-989C-0D260F298BDA}"/>
              </a:ext>
            </a:extLst>
          </p:cNvPr>
          <p:cNvSpPr txBox="1"/>
          <p:nvPr/>
        </p:nvSpPr>
        <p:spPr>
          <a:xfrm>
            <a:off x="4243718" y="2598982"/>
            <a:ext cx="4295105" cy="2250040"/>
          </a:xfrm>
          <a:prstGeom prst="rect">
            <a:avLst/>
          </a:prstGeom>
          <a:noFill/>
        </p:spPr>
        <p:txBody>
          <a:bodyPr wrap="square" rtlCol="0">
            <a:spAutoFit/>
          </a:bodyPr>
          <a:lstStyle/>
          <a:p>
            <a:pPr>
              <a:lnSpc>
                <a:spcPct val="150000"/>
              </a:lnSpc>
            </a:pPr>
            <a:r>
              <a:rPr lang="en-US" sz="2400" b="1">
                <a:solidFill>
                  <a:schemeClr val="bg1">
                    <a:lumMod val="95000"/>
                  </a:schemeClr>
                </a:solidFill>
              </a:rPr>
              <a:t>5. Does speaker C like his job?</a:t>
            </a:r>
          </a:p>
          <a:p>
            <a:pPr>
              <a:lnSpc>
                <a:spcPct val="150000"/>
              </a:lnSpc>
            </a:pPr>
            <a:r>
              <a:rPr lang="en-US" sz="2400">
                <a:solidFill>
                  <a:schemeClr val="bg1">
                    <a:lumMod val="95000"/>
                  </a:schemeClr>
                </a:solidFill>
              </a:rPr>
              <a:t>A. Yes</a:t>
            </a:r>
          </a:p>
          <a:p>
            <a:pPr>
              <a:lnSpc>
                <a:spcPct val="150000"/>
              </a:lnSpc>
            </a:pPr>
            <a:r>
              <a:rPr lang="en-US" sz="2400">
                <a:solidFill>
                  <a:schemeClr val="bg1">
                    <a:lumMod val="95000"/>
                  </a:schemeClr>
                </a:solidFill>
              </a:rPr>
              <a:t>B. Sometimes</a:t>
            </a:r>
          </a:p>
          <a:p>
            <a:pPr>
              <a:lnSpc>
                <a:spcPct val="150000"/>
              </a:lnSpc>
            </a:pPr>
            <a:r>
              <a:rPr lang="en-US" sz="2400">
                <a:solidFill>
                  <a:schemeClr val="bg1">
                    <a:lumMod val="95000"/>
                  </a:schemeClr>
                </a:solidFill>
              </a:rPr>
              <a:t>C. No</a:t>
            </a:r>
          </a:p>
        </p:txBody>
      </p:sp>
    </p:spTree>
    <p:extLst>
      <p:ext uri="{BB962C8B-B14F-4D97-AF65-F5344CB8AC3E}">
        <p14:creationId xmlns:p14="http://schemas.microsoft.com/office/powerpoint/2010/main" val="146341669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5F04-1157-B8E8-869F-4262EA194B7B}"/>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5EC17180-6097-8A21-01FF-A9C689ABBE1D}"/>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109F70AC-3A3C-64EF-0C64-AC4ED8E828AF}"/>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A127221B-85C9-AE9C-6866-C36886BE9792}"/>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8A9C39DE-4D41-433F-72F9-8BDDFBC2AB30}"/>
              </a:ext>
            </a:extLst>
          </p:cNvPr>
          <p:cNvSpPr txBox="1"/>
          <p:nvPr/>
        </p:nvSpPr>
        <p:spPr>
          <a:xfrm>
            <a:off x="2417130" y="2617288"/>
            <a:ext cx="7948282" cy="2250040"/>
          </a:xfrm>
          <a:prstGeom prst="rect">
            <a:avLst/>
          </a:prstGeom>
          <a:noFill/>
        </p:spPr>
        <p:txBody>
          <a:bodyPr wrap="square" rtlCol="0">
            <a:spAutoFit/>
          </a:bodyPr>
          <a:lstStyle/>
          <a:p>
            <a:pPr>
              <a:lnSpc>
                <a:spcPct val="150000"/>
              </a:lnSpc>
            </a:pPr>
            <a:r>
              <a:rPr lang="en-US" sz="2400" b="1">
                <a:solidFill>
                  <a:schemeClr val="bg1">
                    <a:lumMod val="95000"/>
                  </a:schemeClr>
                </a:solidFill>
              </a:rPr>
              <a:t>6. What does speaker D say is difficult about being a pilot?</a:t>
            </a:r>
          </a:p>
          <a:p>
            <a:pPr>
              <a:lnSpc>
                <a:spcPct val="150000"/>
              </a:lnSpc>
            </a:pPr>
            <a:r>
              <a:rPr lang="en-US" sz="2400">
                <a:solidFill>
                  <a:schemeClr val="bg1">
                    <a:lumMod val="95000"/>
                  </a:schemeClr>
                </a:solidFill>
              </a:rPr>
              <a:t>A. Travelling to many countries</a:t>
            </a:r>
          </a:p>
          <a:p>
            <a:pPr>
              <a:lnSpc>
                <a:spcPct val="150000"/>
              </a:lnSpc>
            </a:pPr>
            <a:r>
              <a:rPr lang="en-US" sz="2400">
                <a:solidFill>
                  <a:schemeClr val="bg1">
                    <a:lumMod val="95000"/>
                  </a:schemeClr>
                </a:solidFill>
              </a:rPr>
              <a:t>B. Learning many languages</a:t>
            </a:r>
          </a:p>
          <a:p>
            <a:pPr>
              <a:lnSpc>
                <a:spcPct val="150000"/>
              </a:lnSpc>
            </a:pPr>
            <a:r>
              <a:rPr lang="en-US" sz="2400">
                <a:solidFill>
                  <a:schemeClr val="bg1">
                    <a:lumMod val="95000"/>
                  </a:schemeClr>
                </a:solidFill>
              </a:rPr>
              <a:t>C. Flying planes in bad weather</a:t>
            </a:r>
          </a:p>
        </p:txBody>
      </p:sp>
    </p:spTree>
    <p:extLst>
      <p:ext uri="{BB962C8B-B14F-4D97-AF65-F5344CB8AC3E}">
        <p14:creationId xmlns:p14="http://schemas.microsoft.com/office/powerpoint/2010/main" val="347516490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C9B0-17F0-C718-7797-639FD522B19C}"/>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0E71C805-755A-DC86-2269-231A73514583}"/>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4C295BA1-0DCB-D00A-6ECE-710635E52A38}"/>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654C5F4B-175E-D9AA-0CAE-E17997894A2B}"/>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816F3A55-797B-C831-6FF2-0B2E7754A1F0}"/>
              </a:ext>
            </a:extLst>
          </p:cNvPr>
          <p:cNvSpPr txBox="1"/>
          <p:nvPr/>
        </p:nvSpPr>
        <p:spPr>
          <a:xfrm>
            <a:off x="2417130" y="2617288"/>
            <a:ext cx="7948282" cy="2250040"/>
          </a:xfrm>
          <a:prstGeom prst="rect">
            <a:avLst/>
          </a:prstGeom>
          <a:noFill/>
        </p:spPr>
        <p:txBody>
          <a:bodyPr wrap="square" rtlCol="0">
            <a:spAutoFit/>
          </a:bodyPr>
          <a:lstStyle/>
          <a:p>
            <a:pPr>
              <a:lnSpc>
                <a:spcPct val="150000"/>
              </a:lnSpc>
            </a:pPr>
            <a:r>
              <a:rPr lang="en-US" sz="2400" b="1">
                <a:solidFill>
                  <a:schemeClr val="bg1">
                    <a:lumMod val="95000"/>
                  </a:schemeClr>
                </a:solidFill>
              </a:rPr>
              <a:t>7. What does speaker D say is the best thing about his job?</a:t>
            </a:r>
          </a:p>
          <a:p>
            <a:pPr>
              <a:lnSpc>
                <a:spcPct val="150000"/>
              </a:lnSpc>
            </a:pPr>
            <a:r>
              <a:rPr lang="en-US" sz="2400">
                <a:solidFill>
                  <a:schemeClr val="bg1">
                    <a:lumMod val="95000"/>
                  </a:schemeClr>
                </a:solidFill>
              </a:rPr>
              <a:t>A. Visiting different places</a:t>
            </a:r>
          </a:p>
          <a:p>
            <a:pPr>
              <a:lnSpc>
                <a:spcPct val="150000"/>
              </a:lnSpc>
            </a:pPr>
            <a:r>
              <a:rPr lang="en-US" sz="2400">
                <a:solidFill>
                  <a:schemeClr val="bg1">
                    <a:lumMod val="95000"/>
                  </a:schemeClr>
                </a:solidFill>
              </a:rPr>
              <a:t>B. Meeting different people</a:t>
            </a:r>
          </a:p>
          <a:p>
            <a:pPr>
              <a:lnSpc>
                <a:spcPct val="150000"/>
              </a:lnSpc>
            </a:pPr>
            <a:r>
              <a:rPr lang="en-US" sz="2400">
                <a:solidFill>
                  <a:schemeClr val="bg1">
                    <a:lumMod val="95000"/>
                  </a:schemeClr>
                </a:solidFill>
              </a:rPr>
              <a:t>C. The different weather</a:t>
            </a:r>
          </a:p>
        </p:txBody>
      </p:sp>
    </p:spTree>
    <p:extLst>
      <p:ext uri="{BB962C8B-B14F-4D97-AF65-F5344CB8AC3E}">
        <p14:creationId xmlns:p14="http://schemas.microsoft.com/office/powerpoint/2010/main" val="368383677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690B-1316-2E69-503B-51772CE8A8A9}"/>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73CCF799-C81C-4EC2-F66E-A5272CB348D5}"/>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50A3DCBA-ED78-C470-26F6-B19DCB9F42C7}"/>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49A5E571-B78C-6375-D1E2-E0C05B40936C}"/>
              </a:ext>
            </a:extLst>
          </p:cNvPr>
          <p:cNvSpPr txBox="1"/>
          <p:nvPr/>
        </p:nvSpPr>
        <p:spPr>
          <a:xfrm>
            <a:off x="4620594" y="1578766"/>
            <a:ext cx="3541354" cy="584775"/>
          </a:xfrm>
          <a:prstGeom prst="rect">
            <a:avLst/>
          </a:prstGeom>
          <a:noFill/>
        </p:spPr>
        <p:txBody>
          <a:bodyPr wrap="none" rtlCol="0">
            <a:spAutoFit/>
          </a:bodyPr>
          <a:lstStyle/>
          <a:p>
            <a:r>
              <a:rPr lang="en-US" sz="3200" b="1">
                <a:solidFill>
                  <a:srgbClr val="92D050"/>
                </a:solidFill>
              </a:rPr>
              <a:t>2. Multiple choices</a:t>
            </a:r>
          </a:p>
        </p:txBody>
      </p:sp>
      <p:sp>
        <p:nvSpPr>
          <p:cNvPr id="3" name="TextBox 2">
            <a:extLst>
              <a:ext uri="{FF2B5EF4-FFF2-40B4-BE49-F238E27FC236}">
                <a16:creationId xmlns:a16="http://schemas.microsoft.com/office/drawing/2014/main" id="{374E0DE4-CC2C-5FFD-41C6-A51A405FEF5D}"/>
              </a:ext>
            </a:extLst>
          </p:cNvPr>
          <p:cNvSpPr txBox="1"/>
          <p:nvPr/>
        </p:nvSpPr>
        <p:spPr>
          <a:xfrm>
            <a:off x="2417130" y="2617288"/>
            <a:ext cx="7948282" cy="2250040"/>
          </a:xfrm>
          <a:prstGeom prst="rect">
            <a:avLst/>
          </a:prstGeom>
          <a:noFill/>
        </p:spPr>
        <p:txBody>
          <a:bodyPr wrap="square" rtlCol="0">
            <a:spAutoFit/>
          </a:bodyPr>
          <a:lstStyle/>
          <a:p>
            <a:pPr>
              <a:lnSpc>
                <a:spcPct val="150000"/>
              </a:lnSpc>
            </a:pPr>
            <a:r>
              <a:rPr lang="en-US" sz="2400" b="1">
                <a:solidFill>
                  <a:schemeClr val="bg1">
                    <a:lumMod val="95000"/>
                  </a:schemeClr>
                </a:solidFill>
              </a:rPr>
              <a:t>8. What does speaker E not like about her job?</a:t>
            </a:r>
          </a:p>
          <a:p>
            <a:pPr>
              <a:lnSpc>
                <a:spcPct val="150000"/>
              </a:lnSpc>
            </a:pPr>
            <a:r>
              <a:rPr lang="en-US" sz="2400">
                <a:solidFill>
                  <a:schemeClr val="bg1">
                    <a:lumMod val="95000"/>
                  </a:schemeClr>
                </a:solidFill>
              </a:rPr>
              <a:t>A. The doctors</a:t>
            </a:r>
          </a:p>
          <a:p>
            <a:pPr>
              <a:lnSpc>
                <a:spcPct val="150000"/>
              </a:lnSpc>
            </a:pPr>
            <a:r>
              <a:rPr lang="en-US" sz="2400">
                <a:solidFill>
                  <a:schemeClr val="bg1">
                    <a:lumMod val="95000"/>
                  </a:schemeClr>
                </a:solidFill>
              </a:rPr>
              <a:t>B. The sick people</a:t>
            </a:r>
          </a:p>
          <a:p>
            <a:pPr>
              <a:lnSpc>
                <a:spcPct val="150000"/>
              </a:lnSpc>
            </a:pPr>
            <a:r>
              <a:rPr lang="en-US" sz="2400">
                <a:solidFill>
                  <a:schemeClr val="bg1">
                    <a:lumMod val="95000"/>
                  </a:schemeClr>
                </a:solidFill>
              </a:rPr>
              <a:t>C. The uniform</a:t>
            </a:r>
          </a:p>
        </p:txBody>
      </p:sp>
    </p:spTree>
    <p:extLst>
      <p:ext uri="{BB962C8B-B14F-4D97-AF65-F5344CB8AC3E}">
        <p14:creationId xmlns:p14="http://schemas.microsoft.com/office/powerpoint/2010/main" val="119128278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F33F-B7D5-816C-F9EE-A0ED3F7F02EF}"/>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CCFF4A54-4255-0C39-9F70-7F3316937193}"/>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B8FAA58B-D2EC-23EF-3BF0-5EE4537D12A8}"/>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8" name="TextBox 7">
            <a:extLst>
              <a:ext uri="{FF2B5EF4-FFF2-40B4-BE49-F238E27FC236}">
                <a16:creationId xmlns:a16="http://schemas.microsoft.com/office/drawing/2014/main" id="{C4880E8E-51D7-4A53-9763-7B37A8134474}"/>
              </a:ext>
            </a:extLst>
          </p:cNvPr>
          <p:cNvSpPr txBox="1"/>
          <p:nvPr/>
        </p:nvSpPr>
        <p:spPr>
          <a:xfrm>
            <a:off x="3906458" y="2791806"/>
            <a:ext cx="4969630" cy="1569660"/>
          </a:xfrm>
          <a:prstGeom prst="rect">
            <a:avLst/>
          </a:prstGeom>
          <a:noFill/>
        </p:spPr>
        <p:txBody>
          <a:bodyPr wrap="none" rtlCol="0">
            <a:spAutoFit/>
          </a:bodyPr>
          <a:lstStyle/>
          <a:p>
            <a:r>
              <a:rPr lang="en-US" sz="9600" b="1">
                <a:solidFill>
                  <a:srgbClr val="92D050"/>
                </a:solidFill>
              </a:rPr>
              <a:t>WRITING</a:t>
            </a:r>
          </a:p>
        </p:txBody>
      </p:sp>
    </p:spTree>
    <p:extLst>
      <p:ext uri="{BB962C8B-B14F-4D97-AF65-F5344CB8AC3E}">
        <p14:creationId xmlns:p14="http://schemas.microsoft.com/office/powerpoint/2010/main" val="341591994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CD15B-1238-E281-77D8-BAAAEC30BD1E}"/>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F0E25267-FF76-F650-2781-A110FB586B4B}"/>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000" y="-1"/>
            <a:ext cx="14306550" cy="7153275"/>
          </a:xfrm>
          <a:prstGeom prst="rect">
            <a:avLst/>
          </a:prstGeom>
        </p:spPr>
      </p:pic>
      <p:sp>
        <p:nvSpPr>
          <p:cNvPr id="7" name="TextBox 6">
            <a:extLst>
              <a:ext uri="{FF2B5EF4-FFF2-40B4-BE49-F238E27FC236}">
                <a16:creationId xmlns:a16="http://schemas.microsoft.com/office/drawing/2014/main" id="{9281F3B9-6882-E3A1-8020-71F1E5CDD3E4}"/>
              </a:ext>
            </a:extLst>
          </p:cNvPr>
          <p:cNvSpPr txBox="1"/>
          <p:nvPr/>
        </p:nvSpPr>
        <p:spPr>
          <a:xfrm>
            <a:off x="5375611" y="558550"/>
            <a:ext cx="2031325" cy="461665"/>
          </a:xfrm>
          <a:prstGeom prst="rect">
            <a:avLst/>
          </a:prstGeom>
          <a:noFill/>
        </p:spPr>
        <p:txBody>
          <a:bodyPr wrap="none" rtlCol="0">
            <a:spAutoFit/>
          </a:bodyPr>
          <a:lstStyle/>
          <a:p>
            <a:pPr algn="ctr"/>
            <a:r>
              <a:rPr lang="en-US" sz="2400" b="1">
                <a:solidFill>
                  <a:srgbClr val="92D050"/>
                </a:solidFill>
              </a:rPr>
              <a:t>UNIT 4 - JOBS</a:t>
            </a:r>
          </a:p>
        </p:txBody>
      </p:sp>
      <p:sp>
        <p:nvSpPr>
          <p:cNvPr id="2" name="TextBox 1">
            <a:extLst>
              <a:ext uri="{FF2B5EF4-FFF2-40B4-BE49-F238E27FC236}">
                <a16:creationId xmlns:a16="http://schemas.microsoft.com/office/drawing/2014/main" id="{D6C7C558-6B88-4F0D-3088-BC465A017F3D}"/>
              </a:ext>
            </a:extLst>
          </p:cNvPr>
          <p:cNvSpPr txBox="1"/>
          <p:nvPr/>
        </p:nvSpPr>
        <p:spPr>
          <a:xfrm>
            <a:off x="1266793" y="1379426"/>
            <a:ext cx="9658413" cy="461665"/>
          </a:xfrm>
          <a:prstGeom prst="rect">
            <a:avLst/>
          </a:prstGeom>
          <a:noFill/>
        </p:spPr>
        <p:txBody>
          <a:bodyPr wrap="none" rtlCol="0">
            <a:spAutoFit/>
          </a:bodyPr>
          <a:lstStyle/>
          <a:p>
            <a:r>
              <a:rPr lang="en-US" sz="2400" b="1">
                <a:solidFill>
                  <a:schemeClr val="bg1">
                    <a:lumMod val="95000"/>
                  </a:schemeClr>
                </a:solidFill>
              </a:rPr>
              <a:t>Write a passage at least 60 words about the job of a person you know.</a:t>
            </a:r>
          </a:p>
        </p:txBody>
      </p:sp>
      <p:sp>
        <p:nvSpPr>
          <p:cNvPr id="3" name="TextBox 2">
            <a:extLst>
              <a:ext uri="{FF2B5EF4-FFF2-40B4-BE49-F238E27FC236}">
                <a16:creationId xmlns:a16="http://schemas.microsoft.com/office/drawing/2014/main" id="{B4ED3EC6-828B-32B4-33B0-1B28D2AE260E}"/>
              </a:ext>
            </a:extLst>
          </p:cNvPr>
          <p:cNvSpPr txBox="1"/>
          <p:nvPr/>
        </p:nvSpPr>
        <p:spPr>
          <a:xfrm>
            <a:off x="957139" y="2061154"/>
            <a:ext cx="10868267" cy="4466031"/>
          </a:xfrm>
          <a:prstGeom prst="rect">
            <a:avLst/>
          </a:prstGeom>
          <a:noFill/>
        </p:spPr>
        <p:txBody>
          <a:bodyPr wrap="square" rtlCol="0">
            <a:spAutoFit/>
          </a:bodyPr>
          <a:lstStyle/>
          <a:p>
            <a:pPr>
              <a:lnSpc>
                <a:spcPct val="150000"/>
              </a:lnSpc>
            </a:pPr>
            <a:r>
              <a:rPr lang="en-US" sz="2400">
                <a:solidFill>
                  <a:schemeClr val="bg1">
                    <a:lumMod val="95000"/>
                  </a:schemeClr>
                </a:solidFill>
              </a:rPr>
              <a:t>My idol 1nG, who was born in 1997, is an indie singer and song writer. He wrote some good ballad songs about love and friendship. Although he is not famous like other mainstream singers, he is very talented in writing songs and sing them. Most of the time, he works at his home and sometimes at studios. He loves music a lot and he loves his job too. He is a promising singer with his great high voice. He took part in  the first season of King of Rap but failed to be the winner of that show. I always dream of being a singer like him in the future. I love music and I think it's a great job that suits me.</a:t>
            </a:r>
          </a:p>
        </p:txBody>
      </p:sp>
    </p:spTree>
    <p:extLst>
      <p:ext uri="{BB962C8B-B14F-4D97-AF65-F5344CB8AC3E}">
        <p14:creationId xmlns:p14="http://schemas.microsoft.com/office/powerpoint/2010/main" val="404220153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efault">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 id="{82A9972F-1419-4E5D-AB15-CEDF1AC4ABA5}" vid="{17869DE8-FC2A-43E5-A42C-E86DFB6C0E03}"/>
    </a:ext>
  </a:extLst>
</a:theme>
</file>

<file path=docProps/app.xml><?xml version="1.0" encoding="utf-8"?>
<Properties xmlns="http://schemas.openxmlformats.org/officeDocument/2006/extended-properties" xmlns:vt="http://schemas.openxmlformats.org/officeDocument/2006/docPropsVTypes">
  <Template>unit-4-listening-and-writing</Template>
  <TotalTime>137</TotalTime>
  <Words>490</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dm1nh</dc:creator>
  <cp:lastModifiedBy>dm1nh</cp:lastModifiedBy>
  <cp:revision>2</cp:revision>
  <cp:lastPrinted>2025-05-16T13:39:03Z</cp:lastPrinted>
  <dcterms:created xsi:type="dcterms:W3CDTF">2025-05-16T10:59:35Z</dcterms:created>
  <dcterms:modified xsi:type="dcterms:W3CDTF">2025-05-16T13:43:48Z</dcterms:modified>
</cp:coreProperties>
</file>