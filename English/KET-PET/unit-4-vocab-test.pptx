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1"/>
  </p:notesMasterIdLst>
  <p:sldIdLst>
    <p:sldId id="294" r:id="rId2"/>
    <p:sldId id="28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5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A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CB759-1F04-4D12-991F-9860623AE07F}" type="datetimeFigureOut">
              <a:rPr lang="en-US" smtClean="0"/>
              <a:t>21/05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42036-5DCF-494D-A5E8-CED3A029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1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1D0D-B3F5-4DC2-8C95-604B301305CD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9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6455-E4A7-4B0E-958A-FD6F1E60C070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47A3-7BD2-4FEF-AB4B-5089A2931A5B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7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373E-3F7C-4A98-8B7A-62EC559D8186}" type="datetime1">
              <a:rPr lang="en-US" smtClean="0"/>
              <a:t>21/05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3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147B-10BD-44E8-A742-F6139BB6622F}" type="datetime1">
              <a:rPr lang="en-US" smtClean="0"/>
              <a:t>21/05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5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A658-C6D3-430C-8FC9-FB2D79170EC5}" type="datetime1">
              <a:rPr lang="en-US" smtClean="0"/>
              <a:t>21/05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6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A473C-AFFE-421B-85FD-AE1907E079E5}" type="datetime1">
              <a:rPr lang="en-US" smtClean="0"/>
              <a:t>21/05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D31E9-801B-408C-B30B-77A535C8AEFE}" type="datetime1">
              <a:rPr lang="en-US" smtClean="0"/>
              <a:t>21/05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3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B9321-AF73-4F40-A1F4-6C9DED34119D}" type="datetime1">
              <a:rPr lang="en-US" smtClean="0"/>
              <a:t>21/05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3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3962-ED4C-47DE-97DA-A1E018E0CCED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4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BE43-DEE1-4374-ABB3-1007E2DC539E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11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437C-8479-485D-97FD-E458117AB14F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85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B0EB-1A83-4F08-8767-57D06637D2B3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3234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E7AB-BD26-4BE6-A491-E79FD26F5762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44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9422-A4D2-46DE-A91D-0761055EA276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0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C125-128E-4387-BE61-0366C2186545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4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D1878-5C70-451F-89B6-1DCD9ABE5B3F}" type="datetime1">
              <a:rPr lang="en-US" smtClean="0"/>
              <a:t>21/05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Unit 4 - Jobs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9447AB6-C844-41DD-A887-DAC50C44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91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83C3-BFAA-FA1A-71F8-38C179E2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C142D-1989-D186-6B75-42297243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55F52-658B-A7C6-73A5-D898B6C1BA6D}"/>
              </a:ext>
            </a:extLst>
          </p:cNvPr>
          <p:cNvSpPr txBox="1"/>
          <p:nvPr/>
        </p:nvSpPr>
        <p:spPr>
          <a:xfrm>
            <a:off x="2987642" y="2767280"/>
            <a:ext cx="6216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chemeClr val="accent1"/>
                </a:solidFill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06861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8C20-F9C8-AB75-F54A-8EC6BAFF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82C62-A4FE-D63E-4B69-1DC12B2E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pic>
        <p:nvPicPr>
          <p:cNvPr id="25602" name="Picture 2" descr="Amazing Job Vector Art, Icons, and Graphics for Free Download">
            <a:extLst>
              <a:ext uri="{FF2B5EF4-FFF2-40B4-BE49-F238E27FC236}">
                <a16:creationId xmlns:a16="http://schemas.microsoft.com/office/drawing/2014/main" id="{65F716A7-1FB1-11F4-A9C8-94DA1C05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212" y="1205939"/>
            <a:ext cx="3791574" cy="379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3A3F3F-6612-B0E4-31C7-4358922702A9}"/>
              </a:ext>
            </a:extLst>
          </p:cNvPr>
          <p:cNvSpPr txBox="1"/>
          <p:nvPr/>
        </p:nvSpPr>
        <p:spPr>
          <a:xfrm>
            <a:off x="3688128" y="5207571"/>
            <a:ext cx="48157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solidFill>
                  <a:schemeClr val="accent1"/>
                </a:solidFill>
              </a:rPr>
              <a:t>What is your job?</a:t>
            </a:r>
          </a:p>
        </p:txBody>
      </p:sp>
    </p:spTree>
    <p:extLst>
      <p:ext uri="{BB962C8B-B14F-4D97-AF65-F5344CB8AC3E}">
        <p14:creationId xmlns:p14="http://schemas.microsoft.com/office/powerpoint/2010/main" val="539598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1D016-F92C-6CDA-114A-D9FAF2E8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pic>
        <p:nvPicPr>
          <p:cNvPr id="1028" name="Picture 4" descr="Engineer Vector Art, Icons, and Graphics for Free Download">
            <a:extLst>
              <a:ext uri="{FF2B5EF4-FFF2-40B4-BE49-F238E27FC236}">
                <a16:creationId xmlns:a16="http://schemas.microsoft.com/office/drawing/2014/main" id="{9D7EF233-3455-E0FD-0142-327514832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BB6E6B-2D2C-BDD3-B574-641D13A68101}"/>
              </a:ext>
            </a:extLst>
          </p:cNvPr>
          <p:cNvSpPr txBox="1"/>
          <p:nvPr/>
        </p:nvSpPr>
        <p:spPr>
          <a:xfrm>
            <a:off x="4245973" y="5576934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is an 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877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D6BD-BCD4-CC86-40C4-A3E099B0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0CBF3-51E4-44CF-02B7-B9A4D103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8578C-282C-7343-81E6-7C4301D1C510}"/>
              </a:ext>
            </a:extLst>
          </p:cNvPr>
          <p:cNvSpPr txBox="1"/>
          <p:nvPr/>
        </p:nvSpPr>
        <p:spPr>
          <a:xfrm>
            <a:off x="4641113" y="5567880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 is a 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052" name="Picture 4" descr="Teaching Vector Art, Icons, and Graphics for Free Download">
            <a:extLst>
              <a:ext uri="{FF2B5EF4-FFF2-40B4-BE49-F238E27FC236}">
                <a16:creationId xmlns:a16="http://schemas.microsoft.com/office/drawing/2014/main" id="{F6AC4209-2439-2EA4-8611-94F428454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11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85AE-98DC-8C2A-1FC1-8B788761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D5830-30B4-24AD-5955-A7BA5886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BFE86-117D-334E-1B70-2D3F6E2E2FF3}"/>
              </a:ext>
            </a:extLst>
          </p:cNvPr>
          <p:cNvSpPr txBox="1"/>
          <p:nvPr/>
        </p:nvSpPr>
        <p:spPr>
          <a:xfrm>
            <a:off x="4340550" y="5561597"/>
            <a:ext cx="3209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They are 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3074" name="Picture 2" descr="Page 2 | Students Going To School Vector Art, Icons, and Graphics for Free  Download">
            <a:extLst>
              <a:ext uri="{FF2B5EF4-FFF2-40B4-BE49-F238E27FC236}">
                <a16:creationId xmlns:a16="http://schemas.microsoft.com/office/drawing/2014/main" id="{EEC3F4BC-73F0-484E-C727-135151947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228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D87E0-6831-F489-F9CA-B0A0AB12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F1132-3FC8-0B4F-B760-EB444ECF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393EE-6BB3-DC9B-99FE-D6D476287E8A}"/>
              </a:ext>
            </a:extLst>
          </p:cNvPr>
          <p:cNvSpPr txBox="1"/>
          <p:nvPr/>
        </p:nvSpPr>
        <p:spPr>
          <a:xfrm>
            <a:off x="4226737" y="5567881"/>
            <a:ext cx="3801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man is a 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4098" name="Picture 2" descr="Sad Doctor Vector Art, Icons, and Graphics for Free Download">
            <a:extLst>
              <a:ext uri="{FF2B5EF4-FFF2-40B4-BE49-F238E27FC236}">
                <a16:creationId xmlns:a16="http://schemas.microsoft.com/office/drawing/2014/main" id="{1C1B5AE3-084C-10CD-33FA-CAC295C3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268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56B8-EE67-D876-12FA-FCAA85FF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6FDA5-5F8C-F295-C2A2-1F09DA9C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55338-7865-6542-8AE0-8DA12912DBEA}"/>
              </a:ext>
            </a:extLst>
          </p:cNvPr>
          <p:cNvSpPr txBox="1"/>
          <p:nvPr/>
        </p:nvSpPr>
        <p:spPr>
          <a:xfrm>
            <a:off x="4750919" y="5576934"/>
            <a:ext cx="2964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is a 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5122" name="Picture 2" descr="Nurse Vector Art, Icons, and Graphics for Free Download">
            <a:extLst>
              <a:ext uri="{FF2B5EF4-FFF2-40B4-BE49-F238E27FC236}">
                <a16:creationId xmlns:a16="http://schemas.microsoft.com/office/drawing/2014/main" id="{5985DD24-8FD5-60E3-0A64-B74090C24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71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16F8-CB98-6E63-CD33-B982F078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71659-9A81-2C23-F082-FB120E38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73755-44F8-9276-4637-4CC0A3A0273C}"/>
              </a:ext>
            </a:extLst>
          </p:cNvPr>
          <p:cNvSpPr txBox="1"/>
          <p:nvPr/>
        </p:nvSpPr>
        <p:spPr>
          <a:xfrm>
            <a:off x="3688930" y="5558827"/>
            <a:ext cx="3722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They are 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6146" name="Picture 2" descr="Page 6 | Traffic Officer Vector Art, Icons, and Graphics for Free Download">
            <a:extLst>
              <a:ext uri="{FF2B5EF4-FFF2-40B4-BE49-F238E27FC236}">
                <a16:creationId xmlns:a16="http://schemas.microsoft.com/office/drawing/2014/main" id="{84B2326B-0F68-E302-89C0-2D36C4C0D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02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3472-0BCE-E666-C5B4-1F332DF3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326F4-DB34-D48A-8107-6CD4347B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0F6BE-B123-848C-D8BF-6539EFCD6E0E}"/>
              </a:ext>
            </a:extLst>
          </p:cNvPr>
          <p:cNvSpPr txBox="1"/>
          <p:nvPr/>
        </p:nvSpPr>
        <p:spPr>
          <a:xfrm>
            <a:off x="2831323" y="5558827"/>
            <a:ext cx="2983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 is a 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7170" name="Picture 2" descr="Cartoon fireman in red uniform with yellow belt 51438432 Vector Art at  Vecteezy">
            <a:extLst>
              <a:ext uri="{FF2B5EF4-FFF2-40B4-BE49-F238E27FC236}">
                <a16:creationId xmlns:a16="http://schemas.microsoft.com/office/drawing/2014/main" id="{9A0FD392-1D33-FC9B-2417-C891A9B79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811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1E042-06A5-0EF8-7419-CC8CD594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0391F-0FA3-5A63-E600-1B71D85E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6C186-2C4D-B6D0-C344-4C8A6FB895AB}"/>
              </a:ext>
            </a:extLst>
          </p:cNvPr>
          <p:cNvSpPr txBox="1"/>
          <p:nvPr/>
        </p:nvSpPr>
        <p:spPr>
          <a:xfrm>
            <a:off x="4714851" y="5585987"/>
            <a:ext cx="2707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is a 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8194" name="Picture 2" descr="Woman Judge Vector Art, Icons, and Graphics for Free Download">
            <a:extLst>
              <a:ext uri="{FF2B5EF4-FFF2-40B4-BE49-F238E27FC236}">
                <a16:creationId xmlns:a16="http://schemas.microsoft.com/office/drawing/2014/main" id="{6456FED8-38E2-8B7D-30A6-4A83B2571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651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999A8-DB3C-61AF-0723-F6D2D8EE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37FFF-ADF5-5A09-1B17-79B435B9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3BDF6-FEE7-B6F4-E47D-CEF09C9F2DE9}"/>
              </a:ext>
            </a:extLst>
          </p:cNvPr>
          <p:cNvSpPr txBox="1"/>
          <p:nvPr/>
        </p:nvSpPr>
        <p:spPr>
          <a:xfrm>
            <a:off x="5035452" y="5576933"/>
            <a:ext cx="2727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 is a 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9218" name="Picture 2" descr="A chef in a white uniform with crossed arms 49479929 Vector Art at Vecteezy">
            <a:extLst>
              <a:ext uri="{FF2B5EF4-FFF2-40B4-BE49-F238E27FC236}">
                <a16:creationId xmlns:a16="http://schemas.microsoft.com/office/drawing/2014/main" id="{8FBD24A9-2B26-004F-147F-6596062FC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034" y="1477034"/>
            <a:ext cx="3903931" cy="390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678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AC40-2D35-BA89-3B18-FCB343EBA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DB576-1C81-CECE-A8C3-3F6391C2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C1ACC-172F-DEB9-E516-66CD90A3DDF0}"/>
              </a:ext>
            </a:extLst>
          </p:cNvPr>
          <p:cNvSpPr txBox="1"/>
          <p:nvPr/>
        </p:nvSpPr>
        <p:spPr>
          <a:xfrm>
            <a:off x="4473601" y="5508176"/>
            <a:ext cx="3244799" cy="967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/>
              <a:t>The girl is a ___________</a:t>
            </a:r>
          </a:p>
          <a:p>
            <a:pPr algn="ctr">
              <a:lnSpc>
                <a:spcPct val="150000"/>
              </a:lnSpc>
            </a:pPr>
            <a:r>
              <a:rPr lang="en-US" sz="2000" dirty="0"/>
              <a:t>The man is a 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0242" name="Picture 2" descr="Waiter Waitress Vector Art, Icons, and Graphics for Free Download">
            <a:extLst>
              <a:ext uri="{FF2B5EF4-FFF2-40B4-BE49-F238E27FC236}">
                <a16:creationId xmlns:a16="http://schemas.microsoft.com/office/drawing/2014/main" id="{B32288E8-FBAA-8264-8E4F-E496AD100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217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33DA-1948-C8D0-7DBA-59F1608D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F4942-A2AB-E639-411C-D0AAB913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099D3-5F53-7DB1-281E-8F410B6408C6}"/>
              </a:ext>
            </a:extLst>
          </p:cNvPr>
          <p:cNvSpPr txBox="1"/>
          <p:nvPr/>
        </p:nvSpPr>
        <p:spPr>
          <a:xfrm>
            <a:off x="4714851" y="5585987"/>
            <a:ext cx="3111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 is a 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1266" name="Picture 2" descr="happy cute little kid boy wearing pilot uniform 9843019 Vector Art at  Vecteezy">
            <a:extLst>
              <a:ext uri="{FF2B5EF4-FFF2-40B4-BE49-F238E27FC236}">
                <a16:creationId xmlns:a16="http://schemas.microsoft.com/office/drawing/2014/main" id="{00AAC5C6-27A4-D528-A0CC-66A1004FB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960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5FDD-58EA-C9F2-8321-8572A808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EBA2B-5D97-81C1-34D0-8AF931ED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F69ED-FB96-F4A7-1848-590EC1718C88}"/>
              </a:ext>
            </a:extLst>
          </p:cNvPr>
          <p:cNvSpPr txBox="1"/>
          <p:nvPr/>
        </p:nvSpPr>
        <p:spPr>
          <a:xfrm>
            <a:off x="4039185" y="5558827"/>
            <a:ext cx="3618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is an 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2290" name="Picture 2" descr="Accountant Woman Vector Art, Icons, and Graphics for Free Download">
            <a:extLst>
              <a:ext uri="{FF2B5EF4-FFF2-40B4-BE49-F238E27FC236}">
                <a16:creationId xmlns:a16="http://schemas.microsoft.com/office/drawing/2014/main" id="{48A6F54D-38AA-AA98-4565-E6E0C1A1A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53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51B4-8B60-57B8-1113-C1474D5D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05430-5AAC-DE82-83AC-E6B2B2B3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212E1-C541-E095-D1E7-476083E6DD4C}"/>
              </a:ext>
            </a:extLst>
          </p:cNvPr>
          <p:cNvSpPr txBox="1"/>
          <p:nvPr/>
        </p:nvSpPr>
        <p:spPr>
          <a:xfrm>
            <a:off x="4039185" y="5558827"/>
            <a:ext cx="3850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They are _____________________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3314" name="Picture 2" descr="Fixing Car Vector Art, Icons, and Graphics for Free Download">
            <a:extLst>
              <a:ext uri="{FF2B5EF4-FFF2-40B4-BE49-F238E27FC236}">
                <a16:creationId xmlns:a16="http://schemas.microsoft.com/office/drawing/2014/main" id="{7F5D7B8F-3770-0D85-F717-3817FBAEB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1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D269-558A-46DF-C288-91C63097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CD109-1ED7-FA39-DABE-39E7513B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E08E1-4699-36A9-EC48-C2791BB34492}"/>
              </a:ext>
            </a:extLst>
          </p:cNvPr>
          <p:cNvSpPr txBox="1"/>
          <p:nvPr/>
        </p:nvSpPr>
        <p:spPr>
          <a:xfrm>
            <a:off x="4663875" y="5540720"/>
            <a:ext cx="2964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is a 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4338" name="Picture 2" descr="Dentist Cartoon Illustration 28229585 Vector Art at Vecteezy">
            <a:extLst>
              <a:ext uri="{FF2B5EF4-FFF2-40B4-BE49-F238E27FC236}">
                <a16:creationId xmlns:a16="http://schemas.microsoft.com/office/drawing/2014/main" id="{FDC9820F-73A1-AD22-9D4B-803E84CF1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01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DD15-E782-977D-86F7-EEE2F3E1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E6C20-FD92-1A6B-3C18-9D551199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E936F-1729-82B6-5FA2-8EEF9195DA41}"/>
              </a:ext>
            </a:extLst>
          </p:cNvPr>
          <p:cNvSpPr txBox="1"/>
          <p:nvPr/>
        </p:nvSpPr>
        <p:spPr>
          <a:xfrm>
            <a:off x="4089680" y="5462009"/>
            <a:ext cx="3605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is a 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5362" name="Picture 2" descr="Female Pharmacist Vector Art, Icons, and Graphics for Free Download">
            <a:extLst>
              <a:ext uri="{FF2B5EF4-FFF2-40B4-BE49-F238E27FC236}">
                <a16:creationId xmlns:a16="http://schemas.microsoft.com/office/drawing/2014/main" id="{9D5DCEAD-6321-76B7-2E78-5E864C7AC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999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4F94-A244-A981-CF74-FA8A380B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E8816-479B-14CE-D38F-AAFE5DCB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068F1-CC7E-7F98-4BCE-14555FB36E69}"/>
              </a:ext>
            </a:extLst>
          </p:cNvPr>
          <p:cNvSpPr txBox="1"/>
          <p:nvPr/>
        </p:nvSpPr>
        <p:spPr>
          <a:xfrm>
            <a:off x="4019949" y="5462009"/>
            <a:ext cx="3978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They are ______________________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6386" name="Picture 2" descr="Journalism Vector Art, Icons, and Graphics for Free Download">
            <a:extLst>
              <a:ext uri="{FF2B5EF4-FFF2-40B4-BE49-F238E27FC236}">
                <a16:creationId xmlns:a16="http://schemas.microsoft.com/office/drawing/2014/main" id="{B046A217-DB41-5102-A987-90D5256E0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02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D957-B098-DC4E-2CB4-7ACD3B4BF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94F97-0505-A651-E6B2-92922FB1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EA86C-06C4-A140-DB87-662ECBBF1F9E}"/>
              </a:ext>
            </a:extLst>
          </p:cNvPr>
          <p:cNvSpPr txBox="1"/>
          <p:nvPr/>
        </p:nvSpPr>
        <p:spPr>
          <a:xfrm>
            <a:off x="3636097" y="5552634"/>
            <a:ext cx="4919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 is a _______________________________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7410" name="Picture 2" descr="Programmer Vector Art, Icons, and Graphics for Free Download">
            <a:extLst>
              <a:ext uri="{FF2B5EF4-FFF2-40B4-BE49-F238E27FC236}">
                <a16:creationId xmlns:a16="http://schemas.microsoft.com/office/drawing/2014/main" id="{5A3B6EBC-F8C3-A5AF-63AC-12B03EBE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553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90AE-D3F4-FC34-9A3F-15A87C65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70F31-89BB-F7AF-D2BD-0A15612B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82774-10C3-E515-16A6-7AC848EB87DA}"/>
              </a:ext>
            </a:extLst>
          </p:cNvPr>
          <p:cNvSpPr txBox="1"/>
          <p:nvPr/>
        </p:nvSpPr>
        <p:spPr>
          <a:xfrm>
            <a:off x="4301164" y="5552543"/>
            <a:ext cx="3809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 is an _____________________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8434" name="Picture 2" descr="Page 3 | Architect Vector Art, Icons, and Graphics for Free Download">
            <a:extLst>
              <a:ext uri="{FF2B5EF4-FFF2-40B4-BE49-F238E27FC236}">
                <a16:creationId xmlns:a16="http://schemas.microsoft.com/office/drawing/2014/main" id="{CB92BECB-D207-343C-CAB3-80428B1B3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633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DB10-8802-6222-F650-FDDA0D00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1DD9-CAAF-D5CE-2FF1-F7458261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28238-A5F4-8E23-0F7E-235C9BEFD22F}"/>
              </a:ext>
            </a:extLst>
          </p:cNvPr>
          <p:cNvSpPr txBox="1"/>
          <p:nvPr/>
        </p:nvSpPr>
        <p:spPr>
          <a:xfrm>
            <a:off x="4260298" y="5552633"/>
            <a:ext cx="3671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She is a ____________________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30722" name="Picture 2" descr="Sales Executive Vector Art, Icons, and Graphics for Free Download">
            <a:extLst>
              <a:ext uri="{FF2B5EF4-FFF2-40B4-BE49-F238E27FC236}">
                <a16:creationId xmlns:a16="http://schemas.microsoft.com/office/drawing/2014/main" id="{04D51EA2-06C6-5C7B-2A7C-C7E102C1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016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235A-1F08-7FC3-AA12-DE6AFF1A5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57C92-F683-B76A-83DF-E735BD5E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D6DC8-B601-B35A-E2D7-28DE074F3244}"/>
              </a:ext>
            </a:extLst>
          </p:cNvPr>
          <p:cNvSpPr txBox="1"/>
          <p:nvPr/>
        </p:nvSpPr>
        <p:spPr>
          <a:xfrm>
            <a:off x="3548565" y="5443544"/>
            <a:ext cx="5094867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/>
              <a:t>He is a 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9460" name="Picture 4" descr="Businessman and businesswoman working on laptop and graph vector  Illustration 29134897 Vector Art at Vecteezy">
            <a:extLst>
              <a:ext uri="{FF2B5EF4-FFF2-40B4-BE49-F238E27FC236}">
                <a16:creationId xmlns:a16="http://schemas.microsoft.com/office/drawing/2014/main" id="{2957ABED-EA1C-7015-608F-4C99B45B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330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A277-1CEB-EF6F-C7A0-6E7C6F8F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B4FEB-43CE-EB85-3F06-49E48514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5C54E-1BDD-45EC-D5B7-29BF5F9D7A7F}"/>
              </a:ext>
            </a:extLst>
          </p:cNvPr>
          <p:cNvSpPr txBox="1"/>
          <p:nvPr/>
        </p:nvSpPr>
        <p:spPr>
          <a:xfrm>
            <a:off x="3714375" y="5552543"/>
            <a:ext cx="4763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She is an ____________________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0482" name="Picture 2" descr="Online Seller Vector Art, Icons, and Graphics for Free Download">
            <a:extLst>
              <a:ext uri="{FF2B5EF4-FFF2-40B4-BE49-F238E27FC236}">
                <a16:creationId xmlns:a16="http://schemas.microsoft.com/office/drawing/2014/main" id="{BBCF57B0-0C7D-14D4-43A2-9100B43CD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011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5AB7-F1A1-C619-9868-D3D93804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C75D1-D139-2BE1-72AB-0D0B35F8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0ADB1-156A-EAAC-2506-FC21B2AB6F9D}"/>
              </a:ext>
            </a:extLst>
          </p:cNvPr>
          <p:cNvSpPr txBox="1"/>
          <p:nvPr/>
        </p:nvSpPr>
        <p:spPr>
          <a:xfrm>
            <a:off x="3987110" y="5552543"/>
            <a:ext cx="421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He is a graphic 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1510" name="Picture 6" descr="Website Designer Vector Art, Icons, and Graphics for Free Download">
            <a:extLst>
              <a:ext uri="{FF2B5EF4-FFF2-40B4-BE49-F238E27FC236}">
                <a16:creationId xmlns:a16="http://schemas.microsoft.com/office/drawing/2014/main" id="{CEF1E59C-1E41-ABC6-6B5C-2AE768376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66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09D8-1EC1-074D-3B19-42C3B22B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3F854-265B-E18E-A593-3FF412AA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89657-1EC5-98B5-25CF-8ED40C18F105}"/>
              </a:ext>
            </a:extLst>
          </p:cNvPr>
          <p:cNvSpPr txBox="1"/>
          <p:nvPr/>
        </p:nvSpPr>
        <p:spPr>
          <a:xfrm>
            <a:off x="3987110" y="5534437"/>
            <a:ext cx="421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 is a school bus 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2530" name="Picture 2" descr="Driver Vector Art, Icons, and Graphics for Free Download">
            <a:extLst>
              <a:ext uri="{FF2B5EF4-FFF2-40B4-BE49-F238E27FC236}">
                <a16:creationId xmlns:a16="http://schemas.microsoft.com/office/drawing/2014/main" id="{90DD57A7-4A2A-7D43-5C19-BBE1CC564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127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A2A0-A165-DD8F-99C9-6FB0C160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5F3C6-3CC4-F8F3-7653-B0DDE49D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ADEDF-A3FE-C958-16F0-D2459789641D}"/>
              </a:ext>
            </a:extLst>
          </p:cNvPr>
          <p:cNvSpPr txBox="1"/>
          <p:nvPr/>
        </p:nvSpPr>
        <p:spPr>
          <a:xfrm>
            <a:off x="4535105" y="5525384"/>
            <a:ext cx="3121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He is a 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3554" name="Picture 2" descr="Worker Vector Art, Icons, and Graphics for Free Download">
            <a:extLst>
              <a:ext uri="{FF2B5EF4-FFF2-40B4-BE49-F238E27FC236}">
                <a16:creationId xmlns:a16="http://schemas.microsoft.com/office/drawing/2014/main" id="{4814F1AB-66CF-EF2E-77DB-BAFFA5FD3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31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C27F-C9C5-E975-560C-DB00932D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A2B7A-109D-5BD9-83D3-791D5009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E36D0-1465-891F-2CFC-7AEA0A1A54B9}"/>
              </a:ext>
            </a:extLst>
          </p:cNvPr>
          <p:cNvSpPr txBox="1"/>
          <p:nvPr/>
        </p:nvSpPr>
        <p:spPr>
          <a:xfrm>
            <a:off x="4542989" y="5525385"/>
            <a:ext cx="3106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He is a _________________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4578" name="Picture 2" descr="Traditional Farmer Vector Art, Icons, and Graphics for Free Download">
            <a:extLst>
              <a:ext uri="{FF2B5EF4-FFF2-40B4-BE49-F238E27FC236}">
                <a16:creationId xmlns:a16="http://schemas.microsoft.com/office/drawing/2014/main" id="{D6BED6AB-9F10-F0BA-B619-D1A6180F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497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36AE1-1C2E-646E-85DC-0677535A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854D1-9936-5843-E05A-5B228683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pic>
        <p:nvPicPr>
          <p:cNvPr id="26626" name="Picture 2" descr="Job PNGs for Free Download">
            <a:extLst>
              <a:ext uri="{FF2B5EF4-FFF2-40B4-BE49-F238E27FC236}">
                <a16:creationId xmlns:a16="http://schemas.microsoft.com/office/drawing/2014/main" id="{800B09D4-FB46-24C6-96A5-0D762D7DC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6555F3-B901-C998-FAFA-C7B837F061D6}"/>
              </a:ext>
            </a:extLst>
          </p:cNvPr>
          <p:cNvSpPr txBox="1"/>
          <p:nvPr/>
        </p:nvSpPr>
        <p:spPr>
          <a:xfrm>
            <a:off x="3519011" y="5162304"/>
            <a:ext cx="51539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solidFill>
                  <a:schemeClr val="accent1"/>
                </a:solidFill>
              </a:rPr>
              <a:t>Job-Related Verbs</a:t>
            </a:r>
          </a:p>
        </p:txBody>
      </p:sp>
    </p:spTree>
    <p:extLst>
      <p:ext uri="{BB962C8B-B14F-4D97-AF65-F5344CB8AC3E}">
        <p14:creationId xmlns:p14="http://schemas.microsoft.com/office/powerpoint/2010/main" val="612204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D4AE-A95A-CDAA-7A3F-9F224D31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A61DA-F3DE-960D-F2B1-00BA4611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01612-A577-7B7D-CEE6-8A1EFD4F36A4}"/>
              </a:ext>
            </a:extLst>
          </p:cNvPr>
          <p:cNvSpPr txBox="1"/>
          <p:nvPr/>
        </p:nvSpPr>
        <p:spPr>
          <a:xfrm>
            <a:off x="3912898" y="5508176"/>
            <a:ext cx="4366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 want to ___________the position of headhunter at a company. 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7652" name="Picture 4" descr="Page 2 | Finding Job Vector Art, Icons, and Graphics for Free Download">
            <a:extLst>
              <a:ext uri="{FF2B5EF4-FFF2-40B4-BE49-F238E27FC236}">
                <a16:creationId xmlns:a16="http://schemas.microsoft.com/office/drawing/2014/main" id="{3A23F454-B233-E32E-0E74-B68AF2DEC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866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3ABD-E61E-1029-E75B-E333981A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B7106-5964-8146-5840-6749B147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871CE-0E3C-47BC-EB5B-C66332843A88}"/>
              </a:ext>
            </a:extLst>
          </p:cNvPr>
          <p:cNvSpPr txBox="1"/>
          <p:nvPr/>
        </p:nvSpPr>
        <p:spPr>
          <a:xfrm>
            <a:off x="3444235" y="5489170"/>
            <a:ext cx="5303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company want to  _________ a new CEO. 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28674" name="Picture 2" descr="Interview Questions Vector Art, Icons, and Graphics for Free Download">
            <a:extLst>
              <a:ext uri="{FF2B5EF4-FFF2-40B4-BE49-F238E27FC236}">
                <a16:creationId xmlns:a16="http://schemas.microsoft.com/office/drawing/2014/main" id="{14CC0ED6-B2E1-3D31-D281-0BE607F72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263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A3300-1EC7-2822-520C-74B99F8D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B3DE4-3D80-3BD3-9B12-3E7B8B0E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A256A-F60B-F578-C73F-DCE98419075E}"/>
              </a:ext>
            </a:extLst>
          </p:cNvPr>
          <p:cNvSpPr txBox="1"/>
          <p:nvPr/>
        </p:nvSpPr>
        <p:spPr>
          <a:xfrm>
            <a:off x="4020717" y="5462009"/>
            <a:ext cx="4150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My boss decides to  __________ me. 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31748" name="Picture 4" descr="Scene of a boss saying to the employee he is fired 2031497 Vector Art at  Vecteezy">
            <a:extLst>
              <a:ext uri="{FF2B5EF4-FFF2-40B4-BE49-F238E27FC236}">
                <a16:creationId xmlns:a16="http://schemas.microsoft.com/office/drawing/2014/main" id="{139BA23B-0A2E-05AD-44AB-1D5CF2D42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24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170C3-FFEC-22AD-C840-41E5044F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2FFF2-9FFD-E597-92F1-5154E3DA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DA77C-341B-3D15-8F4F-4FDB068B0594}"/>
              </a:ext>
            </a:extLst>
          </p:cNvPr>
          <p:cNvSpPr txBox="1"/>
          <p:nvPr/>
        </p:nvSpPr>
        <p:spPr>
          <a:xfrm>
            <a:off x="4020717" y="5462009"/>
            <a:ext cx="4150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dirty="0">
                <a:effectLst/>
                <a:latin typeface="+mj-lt"/>
              </a:rPr>
              <a:t>I want to </a:t>
            </a:r>
            <a:r>
              <a:rPr lang="en-US" sz="2000" dirty="0">
                <a:latin typeface="+mj-lt"/>
              </a:rPr>
              <a:t>___________ </a:t>
            </a:r>
            <a:r>
              <a:rPr lang="en-US" sz="2000" b="0" i="0" dirty="0">
                <a:effectLst/>
                <a:latin typeface="+mj-lt"/>
              </a:rPr>
              <a:t>after 10 years working at this company.</a:t>
            </a:r>
            <a:endParaRPr lang="en-US" sz="2000" dirty="0">
              <a:latin typeface="+mj-lt"/>
            </a:endParaRPr>
          </a:p>
        </p:txBody>
      </p:sp>
      <p:pic>
        <p:nvPicPr>
          <p:cNvPr id="32772" name="Picture 4" descr="Resignation Vector Art, Icons, and Graphics for Free Download">
            <a:extLst>
              <a:ext uri="{FF2B5EF4-FFF2-40B4-BE49-F238E27FC236}">
                <a16:creationId xmlns:a16="http://schemas.microsoft.com/office/drawing/2014/main" id="{860D9FFB-E298-114A-1EF2-378AD08FB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52400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125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A470-8601-7466-FE70-DC6139401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BC38F-3490-4496-5D76-F91B6275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F30E2-D225-9FE2-C09F-BF1EA649934C}"/>
              </a:ext>
            </a:extLst>
          </p:cNvPr>
          <p:cNvSpPr txBox="1"/>
          <p:nvPr/>
        </p:nvSpPr>
        <p:spPr>
          <a:xfrm>
            <a:off x="3422831" y="5153251"/>
            <a:ext cx="5346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solidFill>
                  <a:schemeClr val="accent1"/>
                </a:solidFill>
              </a:rPr>
              <a:t>Job-Related Nouns</a:t>
            </a:r>
          </a:p>
        </p:txBody>
      </p:sp>
      <p:pic>
        <p:nvPicPr>
          <p:cNvPr id="33794" name="Picture 2" descr="Job Occupation Vector Art, Icons, and Graphics for Free Download">
            <a:extLst>
              <a:ext uri="{FF2B5EF4-FFF2-40B4-BE49-F238E27FC236}">
                <a16:creationId xmlns:a16="http://schemas.microsoft.com/office/drawing/2014/main" id="{20A30B62-57A1-BEFE-F6C3-6A82F3EA5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882" y="1234450"/>
            <a:ext cx="3680232" cy="368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729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A768B-73E2-CE00-82D1-42C89F67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20FBD-F536-F5A6-9707-703F9CC59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9104C-E064-A49F-75D8-F12294DA683D}"/>
              </a:ext>
            </a:extLst>
          </p:cNvPr>
          <p:cNvSpPr txBox="1"/>
          <p:nvPr/>
        </p:nvSpPr>
        <p:spPr>
          <a:xfrm>
            <a:off x="3303494" y="5561597"/>
            <a:ext cx="5585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 will do my job</a:t>
            </a:r>
            <a:r>
              <a:rPr lang="en-US" sz="2000" b="1"/>
              <a:t> interview </a:t>
            </a:r>
            <a:r>
              <a:rPr lang="en-US" sz="2000" b="0" i="0">
                <a:solidFill>
                  <a:schemeClr val="accent1"/>
                </a:solidFill>
                <a:effectLst/>
                <a:latin typeface="Lucida Sans Unicode" panose="020B0602030504020204" pitchFamily="34" charset="0"/>
              </a:rPr>
              <a:t>/ˈɪntərvjuː/ </a:t>
            </a:r>
            <a:r>
              <a:rPr lang="en-US" sz="2000"/>
              <a:t>next week. </a:t>
            </a:r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34820" name="Picture 4" descr="Interview Questions Vector Art, Icons, and Graphics for Free Download">
            <a:extLst>
              <a:ext uri="{FF2B5EF4-FFF2-40B4-BE49-F238E27FC236}">
                <a16:creationId xmlns:a16="http://schemas.microsoft.com/office/drawing/2014/main" id="{412FA2F8-78FB-C7B3-FD27-BEC637311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726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D5EE5-4E98-E60A-580B-BC278422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35FA9-6CFB-79FC-10A7-83D3270F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EA609-3CAD-53FE-D199-5B942FCCDF18}"/>
              </a:ext>
            </a:extLst>
          </p:cNvPr>
          <p:cNvSpPr txBox="1"/>
          <p:nvPr/>
        </p:nvSpPr>
        <p:spPr>
          <a:xfrm>
            <a:off x="3303494" y="5561597"/>
            <a:ext cx="5585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ffectLst/>
                <a:latin typeface="+mj-lt"/>
              </a:rPr>
              <a:t>The average monthly ____________ for an unskilled worker is $550.</a:t>
            </a:r>
            <a:endParaRPr lang="en-US" sz="2000" dirty="0">
              <a:latin typeface="+mj-lt"/>
            </a:endParaRPr>
          </a:p>
        </p:txBody>
      </p:sp>
      <p:pic>
        <p:nvPicPr>
          <p:cNvPr id="35842" name="Picture 2" descr="Salary time. Boss holding coin in hand gives worker, human hand reaching  out for money, Employer and staff 6146179 Vector Art at Vecteezy">
            <a:extLst>
              <a:ext uri="{FF2B5EF4-FFF2-40B4-BE49-F238E27FC236}">
                <a16:creationId xmlns:a16="http://schemas.microsoft.com/office/drawing/2014/main" id="{0CC0FA12-FBAC-CEAD-1E6B-49941AC70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078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6C5F-C759-D530-E230-5509CB1E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87243-9F96-9BC8-31EE-400D1B46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C3BF4-78EC-496B-7AA1-1515995583A4}"/>
              </a:ext>
            </a:extLst>
          </p:cNvPr>
          <p:cNvSpPr txBox="1"/>
          <p:nvPr/>
        </p:nvSpPr>
        <p:spPr>
          <a:xfrm>
            <a:off x="3303494" y="5561597"/>
            <a:ext cx="5585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dirty="0">
                <a:effectLst/>
                <a:latin typeface="Source Sans Pro" panose="020B0503030403020204" pitchFamily="34" charset="0"/>
              </a:rPr>
              <a:t> I have over ten years’  ____________ as a teacher.</a:t>
            </a:r>
            <a:endParaRPr lang="en-US" sz="2000" dirty="0">
              <a:latin typeface="+mj-lt"/>
            </a:endParaRPr>
          </a:p>
        </p:txBody>
      </p:sp>
      <p:pic>
        <p:nvPicPr>
          <p:cNvPr id="36866" name="Picture 2" descr="Job Experience Vector Art, Icons, and Graphics for Free Download">
            <a:extLst>
              <a:ext uri="{FF2B5EF4-FFF2-40B4-BE49-F238E27FC236}">
                <a16:creationId xmlns:a16="http://schemas.microsoft.com/office/drawing/2014/main" id="{4FB69B08-5E7F-CD68-36E4-1AD4867F3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64" y="1414164"/>
            <a:ext cx="4029671" cy="402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1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649B-EDAB-072A-BCD6-AA24F6CC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662BF-DB1D-1D3D-A9DF-8CAE79CA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626F2-56EF-1C1D-6E3D-98292A1D778F}"/>
              </a:ext>
            </a:extLst>
          </p:cNvPr>
          <p:cNvSpPr txBox="1"/>
          <p:nvPr/>
        </p:nvSpPr>
        <p:spPr>
          <a:xfrm>
            <a:off x="3303493" y="5561597"/>
            <a:ext cx="5822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ffectLst/>
                <a:latin typeface="Source Sans Pro" panose="020B0503030403020204" pitchFamily="34" charset="0"/>
              </a:rPr>
              <a:t>She plans to pursue a ____________ in medicine.</a:t>
            </a:r>
            <a:endParaRPr lang="en-US" sz="2000" dirty="0">
              <a:latin typeface="+mj-lt"/>
            </a:endParaRPr>
          </a:p>
        </p:txBody>
      </p:sp>
      <p:pic>
        <p:nvPicPr>
          <p:cNvPr id="37890" name="Picture 2" descr="Career Vector Art, Icons, and Graphics for Free Download">
            <a:extLst>
              <a:ext uri="{FF2B5EF4-FFF2-40B4-BE49-F238E27FC236}">
                <a16:creationId xmlns:a16="http://schemas.microsoft.com/office/drawing/2014/main" id="{5861F4C3-4EAD-8AF5-B0E0-5532BF3EF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04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5460-7429-AB5D-E92C-034CE876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F5E6E-4373-C972-6537-F345CF24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497E52-698D-A066-84DC-F19C8382EB1C}"/>
              </a:ext>
            </a:extLst>
          </p:cNvPr>
          <p:cNvSpPr txBox="1"/>
          <p:nvPr/>
        </p:nvSpPr>
        <p:spPr>
          <a:xfrm>
            <a:off x="3669670" y="2767280"/>
            <a:ext cx="48526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chemeClr val="accent1"/>
                </a:solidFill>
              </a:rPr>
              <a:t>SPEAKING</a:t>
            </a:r>
          </a:p>
        </p:txBody>
      </p:sp>
    </p:spTree>
    <p:extLst>
      <p:ext uri="{BB962C8B-B14F-4D97-AF65-F5344CB8AC3E}">
        <p14:creationId xmlns:p14="http://schemas.microsoft.com/office/powerpoint/2010/main" val="2752143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FC382-B334-C584-732F-FACB8ABD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F61C3-9D80-7333-B3AF-D6D1F7EA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3101" y="437265"/>
            <a:ext cx="2025797" cy="558616"/>
          </a:xfrm>
        </p:spPr>
        <p:txBody>
          <a:bodyPr/>
          <a:lstStyle/>
          <a:p>
            <a:r>
              <a:rPr lang="en-US" sz="2400" b="1">
                <a:solidFill>
                  <a:schemeClr val="accent1"/>
                </a:solidFill>
              </a:rPr>
              <a:t>UNIT 4 - JOBS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17032-963C-A5DF-BA0D-7FFF5F7C33DD}"/>
              </a:ext>
            </a:extLst>
          </p:cNvPr>
          <p:cNvSpPr txBox="1"/>
          <p:nvPr/>
        </p:nvSpPr>
        <p:spPr>
          <a:xfrm>
            <a:off x="2178489" y="125488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1. What job do you want to do in the future?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E53E3D-6233-5BDC-1B53-7BADE5171A65}"/>
              </a:ext>
            </a:extLst>
          </p:cNvPr>
          <p:cNvSpPr txBox="1"/>
          <p:nvPr/>
        </p:nvSpPr>
        <p:spPr>
          <a:xfrm>
            <a:off x="2178489" y="1723224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2. What job does your parents do?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DEC8D-0A03-CF35-8663-DA832976DC56}"/>
              </a:ext>
            </a:extLst>
          </p:cNvPr>
          <p:cNvSpPr txBox="1"/>
          <p:nvPr/>
        </p:nvSpPr>
        <p:spPr>
          <a:xfrm>
            <a:off x="2180706" y="215896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3. Do you think your job will be easy or difficult? Why?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775737-F578-00F8-1140-AA831B1CE456}"/>
              </a:ext>
            </a:extLst>
          </p:cNvPr>
          <p:cNvSpPr txBox="1"/>
          <p:nvPr/>
        </p:nvSpPr>
        <p:spPr>
          <a:xfrm>
            <a:off x="2202041" y="2631075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4. Is it better to work in the city or in the countryside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9266F-B4D5-1D91-4BE3-F5D1E503A108}"/>
              </a:ext>
            </a:extLst>
          </p:cNvPr>
          <p:cNvSpPr txBox="1"/>
          <p:nvPr/>
        </p:nvSpPr>
        <p:spPr>
          <a:xfrm>
            <a:off x="2174609" y="3099827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5. What job do you think is fun?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1EFC8-1E71-871E-90CE-8ED9E3E0C8ED}"/>
              </a:ext>
            </a:extLst>
          </p:cNvPr>
          <p:cNvSpPr txBox="1"/>
          <p:nvPr/>
        </p:nvSpPr>
        <p:spPr>
          <a:xfrm>
            <a:off x="2170729" y="3656871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6. Do you like to work on computers?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C4D8CE-73C8-2E9E-CCB1-5902F1B95A6E}"/>
              </a:ext>
            </a:extLst>
          </p:cNvPr>
          <p:cNvSpPr txBox="1"/>
          <p:nvPr/>
        </p:nvSpPr>
        <p:spPr>
          <a:xfrm>
            <a:off x="2170728" y="4195989"/>
            <a:ext cx="78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7. Do you like to work at a big company or at home?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B75A9A-59E5-3D9F-A381-C4C896D3ABE3}"/>
              </a:ext>
            </a:extLst>
          </p:cNvPr>
          <p:cNvSpPr txBox="1"/>
          <p:nvPr/>
        </p:nvSpPr>
        <p:spPr>
          <a:xfrm>
            <a:off x="2170727" y="4772122"/>
            <a:ext cx="783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8. Would you rather have a job that is fun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or that is makes a lot of money?</a:t>
            </a:r>
          </a:p>
        </p:txBody>
      </p:sp>
    </p:spTree>
    <p:extLst>
      <p:ext uri="{BB962C8B-B14F-4D97-AF65-F5344CB8AC3E}">
        <p14:creationId xmlns:p14="http://schemas.microsoft.com/office/powerpoint/2010/main" val="128761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efault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</TotalTime>
  <Words>465</Words>
  <Application>Microsoft Office PowerPoint</Application>
  <PresentationFormat>Widescreen</PresentationFormat>
  <Paragraphs>87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Lucida Sans Unicode</vt:lpstr>
      <vt:lpstr>Source Sans Pro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dm1nh</dc:creator>
  <cp:lastModifiedBy>dm1nh</cp:lastModifiedBy>
  <cp:revision>11</cp:revision>
  <dcterms:created xsi:type="dcterms:W3CDTF">2025-05-12T05:18:32Z</dcterms:created>
  <dcterms:modified xsi:type="dcterms:W3CDTF">2025-05-21T09:24:23Z</dcterms:modified>
</cp:coreProperties>
</file>