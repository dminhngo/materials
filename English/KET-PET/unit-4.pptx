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50"/>
  </p:notesMasterIdLst>
  <p:sldIdLst>
    <p:sldId id="294" r:id="rId2"/>
    <p:sldId id="280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85" r:id="rId22"/>
    <p:sldId id="274" r:id="rId23"/>
    <p:sldId id="275" r:id="rId24"/>
    <p:sldId id="276" r:id="rId25"/>
    <p:sldId id="277" r:id="rId26"/>
    <p:sldId id="278" r:id="rId27"/>
    <p:sldId id="279" r:id="rId28"/>
    <p:sldId id="281" r:id="rId29"/>
    <p:sldId id="282" r:id="rId30"/>
    <p:sldId id="283" r:id="rId31"/>
    <p:sldId id="284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AE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CB759-1F04-4D12-991F-9860623AE07F}" type="datetimeFigureOut">
              <a:rPr lang="en-US" smtClean="0"/>
              <a:t>12/05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42036-5DCF-494D-A5E8-CED3A0297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18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81D0D-B3F5-4DC2-8C95-604B301305CD}" type="datetime1">
              <a:rPr lang="en-US" smtClean="0"/>
              <a:t>12/05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091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6455-E4A7-4B0E-958A-FD6F1E60C070}" type="datetime1">
              <a:rPr lang="en-US" smtClean="0"/>
              <a:t>12/05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5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E47A3-7BD2-4FEF-AB4B-5089A2931A5B}" type="datetime1">
              <a:rPr lang="en-US" smtClean="0"/>
              <a:t>12/05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75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373E-3F7C-4A98-8B7A-62EC559D8186}" type="datetime1">
              <a:rPr lang="en-US" smtClean="0"/>
              <a:t>12/05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30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147B-10BD-44E8-A742-F6139BB6622F}" type="datetime1">
              <a:rPr lang="en-US" smtClean="0"/>
              <a:t>12/05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5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A658-C6D3-430C-8FC9-FB2D79170EC5}" type="datetime1">
              <a:rPr lang="en-US" smtClean="0"/>
              <a:t>12/05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60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473C-AFFE-421B-85FD-AE1907E079E5}" type="datetime1">
              <a:rPr lang="en-US" smtClean="0"/>
              <a:t>12/05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48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D31E9-801B-408C-B30B-77A535C8AEFE}" type="datetime1">
              <a:rPr lang="en-US" smtClean="0"/>
              <a:t>12/05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36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B9321-AF73-4F40-A1F4-6C9DED34119D}" type="datetime1">
              <a:rPr lang="en-US" smtClean="0"/>
              <a:t>12/05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936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E3962-ED4C-47DE-97DA-A1E018E0CCED}" type="datetime1">
              <a:rPr lang="en-US" smtClean="0"/>
              <a:t>12/05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444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5BE43-DEE1-4374-ABB3-1007E2DC539E}" type="datetime1">
              <a:rPr lang="en-US" smtClean="0"/>
              <a:t>12/05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11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A437C-8479-485D-97FD-E458117AB14F}" type="datetime1">
              <a:rPr lang="en-US" smtClean="0"/>
              <a:t>12/05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85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B0EB-1A83-4F08-8767-57D06637D2B3}" type="datetime1">
              <a:rPr lang="en-US" smtClean="0"/>
              <a:t>12/05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3234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1E7AB-BD26-4BE6-A491-E79FD26F5762}" type="datetime1">
              <a:rPr lang="en-US" smtClean="0"/>
              <a:t>12/05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444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9422-A4D2-46DE-A91D-0761055EA276}" type="datetime1">
              <a:rPr lang="en-US" smtClean="0"/>
              <a:t>12/05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102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C125-128E-4387-BE61-0366C2186545}" type="datetime1">
              <a:rPr lang="en-US" smtClean="0"/>
              <a:t>12/05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42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D1878-5C70-451F-89B6-1DCD9ABE5B3F}" type="datetime1">
              <a:rPr lang="en-US" smtClean="0"/>
              <a:t>12/05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7911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583C3-BFAA-FA1A-71F8-38C179E23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DC142D-1989-D186-6B75-42297243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755F52-658B-A7C6-73A5-D898B6C1BA6D}"/>
              </a:ext>
            </a:extLst>
          </p:cNvPr>
          <p:cNvSpPr txBox="1"/>
          <p:nvPr/>
        </p:nvSpPr>
        <p:spPr>
          <a:xfrm>
            <a:off x="2987642" y="2767280"/>
            <a:ext cx="62167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>
                <a:solidFill>
                  <a:schemeClr val="accent1"/>
                </a:solidFill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42068613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C8C20-F9C8-AB75-F54A-8EC6BAFF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B82C62-A4FE-D63E-4B69-1DC12B2E3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pic>
        <p:nvPicPr>
          <p:cNvPr id="25602" name="Picture 2" descr="Amazing Job Vector Art, Icons, and Graphics for Free Download">
            <a:extLst>
              <a:ext uri="{FF2B5EF4-FFF2-40B4-BE49-F238E27FC236}">
                <a16:creationId xmlns:a16="http://schemas.microsoft.com/office/drawing/2014/main" id="{65F716A7-1FB1-11F4-A9C8-94DA1C05E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212" y="1205939"/>
            <a:ext cx="3791574" cy="3791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3A3F3F-6612-B0E4-31C7-4358922702A9}"/>
              </a:ext>
            </a:extLst>
          </p:cNvPr>
          <p:cNvSpPr txBox="1"/>
          <p:nvPr/>
        </p:nvSpPr>
        <p:spPr>
          <a:xfrm>
            <a:off x="3688128" y="5207571"/>
            <a:ext cx="48157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>
                <a:solidFill>
                  <a:schemeClr val="accent1"/>
                </a:solidFill>
              </a:rPr>
              <a:t>What is your job?</a:t>
            </a:r>
          </a:p>
        </p:txBody>
      </p:sp>
    </p:spTree>
    <p:extLst>
      <p:ext uri="{BB962C8B-B14F-4D97-AF65-F5344CB8AC3E}">
        <p14:creationId xmlns:p14="http://schemas.microsoft.com/office/powerpoint/2010/main" val="5395989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E1D016-F92C-6CDA-114A-D9FAF2E8D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pic>
        <p:nvPicPr>
          <p:cNvPr id="1028" name="Picture 4" descr="Engineer Vector Art, Icons, and Graphics for Free Download">
            <a:extLst>
              <a:ext uri="{FF2B5EF4-FFF2-40B4-BE49-F238E27FC236}">
                <a16:creationId xmlns:a16="http://schemas.microsoft.com/office/drawing/2014/main" id="{9D7EF233-3455-E0FD-0142-327514832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BB6E6B-2D2C-BDD3-B574-641D13A68101}"/>
              </a:ext>
            </a:extLst>
          </p:cNvPr>
          <p:cNvSpPr txBox="1"/>
          <p:nvPr/>
        </p:nvSpPr>
        <p:spPr>
          <a:xfrm>
            <a:off x="4245973" y="5576934"/>
            <a:ext cx="3700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She is an </a:t>
            </a:r>
            <a:r>
              <a:rPr lang="en-US" sz="2000" b="1"/>
              <a:t>engineer</a:t>
            </a:r>
            <a:r>
              <a:rPr lang="en-US" sz="2000"/>
              <a:t>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/ˌendʒɪˈnɪr/</a:t>
            </a:r>
            <a:endParaRPr lang="en-US" sz="20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8776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4D6BD-BCD4-CC86-40C4-A3E099B00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B0CBF3-51E4-44CF-02B7-B9A4D103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8578C-282C-7343-81E6-7C4301D1C510}"/>
              </a:ext>
            </a:extLst>
          </p:cNvPr>
          <p:cNvSpPr txBox="1"/>
          <p:nvPr/>
        </p:nvSpPr>
        <p:spPr>
          <a:xfrm>
            <a:off x="4641113" y="5567880"/>
            <a:ext cx="29097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He is a </a:t>
            </a:r>
            <a:r>
              <a:rPr lang="en-US" sz="2000" b="1"/>
              <a:t>teacher</a:t>
            </a:r>
            <a:r>
              <a:rPr lang="en-US" sz="2000"/>
              <a:t>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/ˈtiːtʃər/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2052" name="Picture 4" descr="Teaching Vector Art, Icons, and Graphics for Free Download">
            <a:extLst>
              <a:ext uri="{FF2B5EF4-FFF2-40B4-BE49-F238E27FC236}">
                <a16:creationId xmlns:a16="http://schemas.microsoft.com/office/drawing/2014/main" id="{F6AC4209-2439-2EA4-8611-94F428454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1157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485AE-98DC-8C2A-1FC1-8B788761D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DD5830-30B4-24AD-5955-A7BA5886E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0BFE86-117D-334E-1B70-2D3F6E2E2FF3}"/>
              </a:ext>
            </a:extLst>
          </p:cNvPr>
          <p:cNvSpPr txBox="1"/>
          <p:nvPr/>
        </p:nvSpPr>
        <p:spPr>
          <a:xfrm>
            <a:off x="4340550" y="5561597"/>
            <a:ext cx="35108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They are </a:t>
            </a:r>
            <a:r>
              <a:rPr lang="en-US" sz="2000" b="1"/>
              <a:t>students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/ˈstuːdnt/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3074" name="Picture 2" descr="Page 2 | Students Going To School Vector Art, Icons, and Graphics for Free  Download">
            <a:extLst>
              <a:ext uri="{FF2B5EF4-FFF2-40B4-BE49-F238E27FC236}">
                <a16:creationId xmlns:a16="http://schemas.microsoft.com/office/drawing/2014/main" id="{EEC3F4BC-73F0-484E-C727-135151947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62282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D87E0-6831-F489-F9CA-B0A0AB12E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4F1132-3FC8-0B4F-B760-EB444ECFA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E393EE-6BB3-DC9B-99FE-D6D476287E8A}"/>
              </a:ext>
            </a:extLst>
          </p:cNvPr>
          <p:cNvSpPr txBox="1"/>
          <p:nvPr/>
        </p:nvSpPr>
        <p:spPr>
          <a:xfrm>
            <a:off x="4226737" y="5567881"/>
            <a:ext cx="37385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This man is a </a:t>
            </a:r>
            <a:r>
              <a:rPr lang="en-US" sz="2000" b="1"/>
              <a:t>doctor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/ˈdɑːktər/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4098" name="Picture 2" descr="Sad Doctor Vector Art, Icons, and Graphics for Free Download">
            <a:extLst>
              <a:ext uri="{FF2B5EF4-FFF2-40B4-BE49-F238E27FC236}">
                <a16:creationId xmlns:a16="http://schemas.microsoft.com/office/drawing/2014/main" id="{1C1B5AE3-084C-10CD-33FA-CAC295C31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72687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C56B8-EE67-D876-12FA-FCAA85FFE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6FDA5-5F8C-F295-C2A2-1F09DA9C8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355338-7865-6542-8AE0-8DA12912DBEA}"/>
              </a:ext>
            </a:extLst>
          </p:cNvPr>
          <p:cNvSpPr txBox="1"/>
          <p:nvPr/>
        </p:nvSpPr>
        <p:spPr>
          <a:xfrm>
            <a:off x="4750919" y="5576934"/>
            <a:ext cx="26901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She is a </a:t>
            </a:r>
            <a:r>
              <a:rPr lang="en-US" sz="2000" b="1"/>
              <a:t>nurse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/nɜːrs/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5122" name="Picture 2" descr="Nurse Vector Art, Icons, and Graphics for Free Download">
            <a:extLst>
              <a:ext uri="{FF2B5EF4-FFF2-40B4-BE49-F238E27FC236}">
                <a16:creationId xmlns:a16="http://schemas.microsoft.com/office/drawing/2014/main" id="{5985DD24-8FD5-60E3-0A64-B74090C24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67189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B16F8-CB98-6E63-CD33-B982F078F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971659-9A81-2C23-F082-FB120E389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73755-44F8-9276-4637-4CC0A3A0273C}"/>
              </a:ext>
            </a:extLst>
          </p:cNvPr>
          <p:cNvSpPr txBox="1"/>
          <p:nvPr/>
        </p:nvSpPr>
        <p:spPr>
          <a:xfrm>
            <a:off x="3688930" y="5558827"/>
            <a:ext cx="4814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They are </a:t>
            </a:r>
            <a:r>
              <a:rPr lang="en-US" sz="2000" b="1"/>
              <a:t>police officers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/pəˈliːs ɑːfɪsər/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6146" name="Picture 2" descr="Page 6 | Traffic Officer Vector Art, Icons, and Graphics for Free Download">
            <a:extLst>
              <a:ext uri="{FF2B5EF4-FFF2-40B4-BE49-F238E27FC236}">
                <a16:creationId xmlns:a16="http://schemas.microsoft.com/office/drawing/2014/main" id="{84B2326B-0F68-E302-89C0-2D36C4C0D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7021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63472-0BCE-E666-C5B4-1F332DF3B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326F4-DB34-D48A-8107-6CD4347B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0F6BE-B123-848C-D8BF-6539EFCD6E0E}"/>
              </a:ext>
            </a:extLst>
          </p:cNvPr>
          <p:cNvSpPr txBox="1"/>
          <p:nvPr/>
        </p:nvSpPr>
        <p:spPr>
          <a:xfrm>
            <a:off x="2831323" y="5558827"/>
            <a:ext cx="6529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He is a </a:t>
            </a:r>
            <a:r>
              <a:rPr lang="en-US" sz="2000" b="1"/>
              <a:t>firefighter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 /ˈfaɪərfaɪtər/ </a:t>
            </a:r>
            <a:r>
              <a:rPr lang="en-US" sz="2000" b="1"/>
              <a:t>/ fireman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/ˈfaɪərmən/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7170" name="Picture 2" descr="Cartoon fireman in red uniform with yellow belt 51438432 Vector Art at  Vecteezy">
            <a:extLst>
              <a:ext uri="{FF2B5EF4-FFF2-40B4-BE49-F238E27FC236}">
                <a16:creationId xmlns:a16="http://schemas.microsoft.com/office/drawing/2014/main" id="{9A0FD392-1D33-FC9B-2417-C891A9B79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811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1E042-06A5-0EF8-7419-CC8CD5947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0391F-0FA3-5A63-E600-1B71D85E9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6C186-2C4D-B6D0-C344-4C8A6FB895AB}"/>
              </a:ext>
            </a:extLst>
          </p:cNvPr>
          <p:cNvSpPr txBox="1"/>
          <p:nvPr/>
        </p:nvSpPr>
        <p:spPr>
          <a:xfrm>
            <a:off x="4714851" y="5585987"/>
            <a:ext cx="28216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She is a </a:t>
            </a:r>
            <a:r>
              <a:rPr lang="en-US" sz="2000" b="1"/>
              <a:t>lawyer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/ˈlɔɪər/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8194" name="Picture 2" descr="Woman Judge Vector Art, Icons, and Graphics for Free Download">
            <a:extLst>
              <a:ext uri="{FF2B5EF4-FFF2-40B4-BE49-F238E27FC236}">
                <a16:creationId xmlns:a16="http://schemas.microsoft.com/office/drawing/2014/main" id="{6456FED8-38E2-8B7D-30A6-4A83B2571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6517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999A8-DB3C-61AF-0723-F6D2D8EE3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37FFF-ADF5-5A09-1B17-79B435B9D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3BDF6-FEE7-B6F4-E47D-CEF09C9F2DE9}"/>
              </a:ext>
            </a:extLst>
          </p:cNvPr>
          <p:cNvSpPr txBox="1"/>
          <p:nvPr/>
        </p:nvSpPr>
        <p:spPr>
          <a:xfrm>
            <a:off x="5035452" y="5576933"/>
            <a:ext cx="2149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He is a </a:t>
            </a:r>
            <a:r>
              <a:rPr lang="en-US" sz="2000" b="1"/>
              <a:t>chef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/ʃef/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9218" name="Picture 2" descr="A chef in a white uniform with crossed arms 49479929 Vector Art at Vecteezy">
            <a:extLst>
              <a:ext uri="{FF2B5EF4-FFF2-40B4-BE49-F238E27FC236}">
                <a16:creationId xmlns:a16="http://schemas.microsoft.com/office/drawing/2014/main" id="{8FBD24A9-2B26-004F-147F-6596062FC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4034" y="1477034"/>
            <a:ext cx="3903931" cy="3903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96788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FAC40-2D35-BA89-3B18-FCB343EBA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8DB576-1C81-CECE-A8C3-3F6391C2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DC1ACC-172F-DEB9-E516-66CD90A3DDF0}"/>
              </a:ext>
            </a:extLst>
          </p:cNvPr>
          <p:cNvSpPr txBox="1"/>
          <p:nvPr/>
        </p:nvSpPr>
        <p:spPr>
          <a:xfrm>
            <a:off x="4209104" y="5508176"/>
            <a:ext cx="3773790" cy="977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/>
              <a:t>The girl is a </a:t>
            </a:r>
            <a:r>
              <a:rPr lang="en-US" sz="2000" b="1"/>
              <a:t>waitress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/ˈweɪtrəs/</a:t>
            </a:r>
            <a:endParaRPr lang="en-US" sz="2000"/>
          </a:p>
          <a:p>
            <a:pPr algn="ctr">
              <a:lnSpc>
                <a:spcPct val="150000"/>
              </a:lnSpc>
            </a:pPr>
            <a:r>
              <a:rPr lang="en-US" sz="2000"/>
              <a:t>The man is a </a:t>
            </a:r>
            <a:r>
              <a:rPr lang="en-US" sz="2000" b="1"/>
              <a:t>waiter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/ˈweɪtər/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10242" name="Picture 2" descr="Waiter Waitress Vector Art, Icons, and Graphics for Free Download">
            <a:extLst>
              <a:ext uri="{FF2B5EF4-FFF2-40B4-BE49-F238E27FC236}">
                <a16:creationId xmlns:a16="http://schemas.microsoft.com/office/drawing/2014/main" id="{B32288E8-FBAA-8264-8E4F-E496AD100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72172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D33DA-1948-C8D0-7DBA-59F1608D4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F4942-A2AB-E639-411C-D0AAB913B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3099D3-5F53-7DB1-281E-8F410B6408C6}"/>
              </a:ext>
            </a:extLst>
          </p:cNvPr>
          <p:cNvSpPr txBox="1"/>
          <p:nvPr/>
        </p:nvSpPr>
        <p:spPr>
          <a:xfrm>
            <a:off x="4714851" y="5585987"/>
            <a:ext cx="26324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He is a </a:t>
            </a:r>
            <a:r>
              <a:rPr lang="en-US" sz="2000" b="1"/>
              <a:t>pilot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/ˈpaɪlət/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11266" name="Picture 2" descr="happy cute little kid boy wearing pilot uniform 9843019 Vector Art at  Vecteezy">
            <a:extLst>
              <a:ext uri="{FF2B5EF4-FFF2-40B4-BE49-F238E27FC236}">
                <a16:creationId xmlns:a16="http://schemas.microsoft.com/office/drawing/2014/main" id="{00AAC5C6-27A4-D528-A0CC-66A1004FB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9608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05FDD-58EA-C9F2-8321-8572A8084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EBA2B-5D97-81C1-34D0-8AF931EDC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3F69ED-FB96-F4A7-1848-590EC1718C88}"/>
              </a:ext>
            </a:extLst>
          </p:cNvPr>
          <p:cNvSpPr txBox="1"/>
          <p:nvPr/>
        </p:nvSpPr>
        <p:spPr>
          <a:xfrm>
            <a:off x="4039185" y="5558827"/>
            <a:ext cx="41745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She is an </a:t>
            </a:r>
            <a:r>
              <a:rPr lang="en-US" sz="2000" b="1"/>
              <a:t>accountant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/əˈkaʊntənt/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12290" name="Picture 2" descr="Accountant Woman Vector Art, Icons, and Graphics for Free Download">
            <a:extLst>
              <a:ext uri="{FF2B5EF4-FFF2-40B4-BE49-F238E27FC236}">
                <a16:creationId xmlns:a16="http://schemas.microsoft.com/office/drawing/2014/main" id="{48A6F54D-38AA-AA98-4565-E6E0C1A1A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5306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551B4-8B60-57B8-1113-C1474D5D4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405430-5AAC-DE82-83AC-E6B2B2B34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A212E1-C541-E095-D1E7-476083E6DD4C}"/>
              </a:ext>
            </a:extLst>
          </p:cNvPr>
          <p:cNvSpPr txBox="1"/>
          <p:nvPr/>
        </p:nvSpPr>
        <p:spPr>
          <a:xfrm>
            <a:off x="4039185" y="5558827"/>
            <a:ext cx="40158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They are </a:t>
            </a:r>
            <a:r>
              <a:rPr lang="en-US" sz="2000" b="1"/>
              <a:t>mechanics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/məˈkænɪk/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13314" name="Picture 2" descr="Fixing Car Vector Art, Icons, and Graphics for Free Download">
            <a:extLst>
              <a:ext uri="{FF2B5EF4-FFF2-40B4-BE49-F238E27FC236}">
                <a16:creationId xmlns:a16="http://schemas.microsoft.com/office/drawing/2014/main" id="{7F5D7B8F-3770-0D85-F717-3817FBAEB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6137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D269-558A-46DF-C288-91C63097A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ACD109-1ED7-FA39-DABE-39E7513BB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0E08E1-4699-36A9-EC48-C2791BB34492}"/>
              </a:ext>
            </a:extLst>
          </p:cNvPr>
          <p:cNvSpPr txBox="1"/>
          <p:nvPr/>
        </p:nvSpPr>
        <p:spPr>
          <a:xfrm>
            <a:off x="4663875" y="5540720"/>
            <a:ext cx="3188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She is a </a:t>
            </a:r>
            <a:r>
              <a:rPr lang="en-US" sz="2000" b="1"/>
              <a:t>dentist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/ˈdentɪst/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14338" name="Picture 2" descr="Dentist Cartoon Illustration 28229585 Vector Art at Vecteezy">
            <a:extLst>
              <a:ext uri="{FF2B5EF4-FFF2-40B4-BE49-F238E27FC236}">
                <a16:creationId xmlns:a16="http://schemas.microsoft.com/office/drawing/2014/main" id="{FDC9820F-73A1-AD22-9D4B-803E84CF1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50127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EDD15-E782-977D-86F7-EEE2F3E10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E6C20-FD92-1A6B-3C18-9D5511994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E936F-1729-82B6-5FA2-8EEF9195DA41}"/>
              </a:ext>
            </a:extLst>
          </p:cNvPr>
          <p:cNvSpPr txBox="1"/>
          <p:nvPr/>
        </p:nvSpPr>
        <p:spPr>
          <a:xfrm>
            <a:off x="4089680" y="5462009"/>
            <a:ext cx="4081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She is a </a:t>
            </a:r>
            <a:r>
              <a:rPr lang="en-US" sz="2000" b="1"/>
              <a:t>pharmacist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/ˈfɑːrməsɪst/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15362" name="Picture 2" descr="Female Pharmacist Vector Art, Icons, and Graphics for Free Download">
            <a:extLst>
              <a:ext uri="{FF2B5EF4-FFF2-40B4-BE49-F238E27FC236}">
                <a16:creationId xmlns:a16="http://schemas.microsoft.com/office/drawing/2014/main" id="{9D5DCEAD-6321-76B7-2E78-5E864C7AC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9990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E4F94-A244-A981-CF74-FA8A380BB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E8816-479B-14CE-D38F-AAFE5DCBD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068F1-CC7E-7F98-4BCE-14555FB36E69}"/>
              </a:ext>
            </a:extLst>
          </p:cNvPr>
          <p:cNvSpPr txBox="1"/>
          <p:nvPr/>
        </p:nvSpPr>
        <p:spPr>
          <a:xfrm>
            <a:off x="4019949" y="5462009"/>
            <a:ext cx="41520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They are </a:t>
            </a:r>
            <a:r>
              <a:rPr lang="en-US" sz="2000" b="1"/>
              <a:t>journalists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/ˈdʒɜːrnəlɪst/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16386" name="Picture 2" descr="Journalism Vector Art, Icons, and Graphics for Free Download">
            <a:extLst>
              <a:ext uri="{FF2B5EF4-FFF2-40B4-BE49-F238E27FC236}">
                <a16:creationId xmlns:a16="http://schemas.microsoft.com/office/drawing/2014/main" id="{B046A217-DB41-5102-A987-90D5256E0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0253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7D957-B098-DC4E-2CB4-7ACD3B4BF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94F97-0505-A651-E6B2-92922FB11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EA86C-06C4-A140-DB87-662ECBBF1F9E}"/>
              </a:ext>
            </a:extLst>
          </p:cNvPr>
          <p:cNvSpPr txBox="1"/>
          <p:nvPr/>
        </p:nvSpPr>
        <p:spPr>
          <a:xfrm>
            <a:off x="3236644" y="5543490"/>
            <a:ext cx="5936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He is a </a:t>
            </a:r>
            <a:r>
              <a:rPr lang="en-US" sz="2000" b="1"/>
              <a:t>software developer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/ˈsɔːftwer dɪˈveləpər/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17410" name="Picture 2" descr="Programmer Vector Art, Icons, and Graphics for Free Download">
            <a:extLst>
              <a:ext uri="{FF2B5EF4-FFF2-40B4-BE49-F238E27FC236}">
                <a16:creationId xmlns:a16="http://schemas.microsoft.com/office/drawing/2014/main" id="{5A3B6EBC-F8C3-A5AF-63AC-12B03EBE1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5534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690AE-D3F4-FC34-9A3F-15A87C652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970F31-89BB-F7AF-D2BD-0A15612BF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682774-10C3-E515-16A6-7AC848EB87DA}"/>
              </a:ext>
            </a:extLst>
          </p:cNvPr>
          <p:cNvSpPr txBox="1"/>
          <p:nvPr/>
        </p:nvSpPr>
        <p:spPr>
          <a:xfrm>
            <a:off x="4301164" y="5552543"/>
            <a:ext cx="3809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He is an </a:t>
            </a:r>
            <a:r>
              <a:rPr lang="en-US" sz="2000" b="1"/>
              <a:t>architect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/ˈɑːrkɪtekt/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18434" name="Picture 2" descr="Page 3 | Architect Vector Art, Icons, and Graphics for Free Download">
            <a:extLst>
              <a:ext uri="{FF2B5EF4-FFF2-40B4-BE49-F238E27FC236}">
                <a16:creationId xmlns:a16="http://schemas.microsoft.com/office/drawing/2014/main" id="{CB92BECB-D207-343C-CAB3-80428B1B3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66331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2DB10-8802-6222-F650-FDDA0D000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11DD9-CAAF-D5CE-2FF1-F7458261B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28238-A5F4-8E23-0F7E-235C9BEFD22F}"/>
              </a:ext>
            </a:extLst>
          </p:cNvPr>
          <p:cNvSpPr txBox="1"/>
          <p:nvPr/>
        </p:nvSpPr>
        <p:spPr>
          <a:xfrm>
            <a:off x="3552359" y="5543489"/>
            <a:ext cx="5267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She is a </a:t>
            </a:r>
            <a:r>
              <a:rPr lang="en-US" sz="2000" b="1"/>
              <a:t>sales executive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/seɪlz ɪɡˈzekjətɪv/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30722" name="Picture 2" descr="Sales Executive Vector Art, Icons, and Graphics for Free Download">
            <a:extLst>
              <a:ext uri="{FF2B5EF4-FFF2-40B4-BE49-F238E27FC236}">
                <a16:creationId xmlns:a16="http://schemas.microsoft.com/office/drawing/2014/main" id="{04D51EA2-06C6-5C7B-2A7C-C7E102C1C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0168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B235A-1F08-7FC3-AA12-DE6AFF1A5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857C92-F683-B76A-83DF-E735BD5E7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3D6DC8-B601-B35A-E2D7-28DE074F3244}"/>
              </a:ext>
            </a:extLst>
          </p:cNvPr>
          <p:cNvSpPr txBox="1"/>
          <p:nvPr/>
        </p:nvSpPr>
        <p:spPr>
          <a:xfrm>
            <a:off x="3548565" y="5443544"/>
            <a:ext cx="5094867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/>
              <a:t>He is a </a:t>
            </a:r>
            <a:r>
              <a:rPr lang="en-US" sz="2000" b="1"/>
              <a:t>businessman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/ˈbɪznəsmæn/</a:t>
            </a:r>
          </a:p>
          <a:p>
            <a:pPr algn="ctr">
              <a:lnSpc>
                <a:spcPct val="150000"/>
              </a:lnSpc>
            </a:pPr>
            <a:r>
              <a:rPr lang="en-US" sz="2000"/>
              <a:t>She is a </a:t>
            </a:r>
            <a:r>
              <a:rPr lang="en-US" sz="2000" b="1"/>
              <a:t>businesswoman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/ˈbɪznəswʊmən/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19460" name="Picture 4" descr="Businessman and businesswoman working on laptop and graph vector  Illustration 29134897 Vector Art at Vecteezy">
            <a:extLst>
              <a:ext uri="{FF2B5EF4-FFF2-40B4-BE49-F238E27FC236}">
                <a16:creationId xmlns:a16="http://schemas.microsoft.com/office/drawing/2014/main" id="{2957ABED-EA1C-7015-608F-4C99B45B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3307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0A277-1CEB-EF6F-C7A0-6E7C6F8F9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3B4FEB-43CE-EB85-3F06-49E485141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D5C54E-1BDD-45EC-D5B7-29BF5F9D7A7F}"/>
              </a:ext>
            </a:extLst>
          </p:cNvPr>
          <p:cNvSpPr txBox="1"/>
          <p:nvPr/>
        </p:nvSpPr>
        <p:spPr>
          <a:xfrm>
            <a:off x="3714375" y="5552543"/>
            <a:ext cx="4763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She is an </a:t>
            </a:r>
            <a:r>
              <a:rPr lang="en-US" sz="2000" b="1"/>
              <a:t>online seller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/ˌɑːnˈlaɪn ˈselər/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20482" name="Picture 2" descr="Online Seller Vector Art, Icons, and Graphics for Free Download">
            <a:extLst>
              <a:ext uri="{FF2B5EF4-FFF2-40B4-BE49-F238E27FC236}">
                <a16:creationId xmlns:a16="http://schemas.microsoft.com/office/drawing/2014/main" id="{BBCF57B0-0C7D-14D4-43A2-9100B43CD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40110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55AB7-F1A1-C619-9868-D3D938045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C75D1-D139-2BE1-72AB-0D0B35F85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60ADB1-156A-EAAC-2506-FC21B2AB6F9D}"/>
              </a:ext>
            </a:extLst>
          </p:cNvPr>
          <p:cNvSpPr txBox="1"/>
          <p:nvPr/>
        </p:nvSpPr>
        <p:spPr>
          <a:xfrm>
            <a:off x="3987110" y="5552543"/>
            <a:ext cx="421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He is a graphic </a:t>
            </a:r>
            <a:r>
              <a:rPr lang="en-US" sz="2000" b="1"/>
              <a:t>designer</a:t>
            </a:r>
            <a:r>
              <a:rPr lang="en-US" sz="2000"/>
              <a:t>. </a:t>
            </a:r>
            <a:r>
              <a:rPr lang="en-US" sz="2000">
                <a:solidFill>
                  <a:schemeClr val="accent1"/>
                </a:solidFill>
              </a:rPr>
              <a:t>/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dɪˈzaɪnər/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21510" name="Picture 6" descr="Website Designer Vector Art, Icons, and Graphics for Free Download">
            <a:extLst>
              <a:ext uri="{FF2B5EF4-FFF2-40B4-BE49-F238E27FC236}">
                <a16:creationId xmlns:a16="http://schemas.microsoft.com/office/drawing/2014/main" id="{CEF1E59C-1E41-ABC6-6B5C-2AE768376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6656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609D8-1EC1-074D-3B19-42C3B22BF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3F854-265B-E18E-A593-3FF412AA1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C89657-1EC5-98B5-25CF-8ED40C18F105}"/>
              </a:ext>
            </a:extLst>
          </p:cNvPr>
          <p:cNvSpPr txBox="1"/>
          <p:nvPr/>
        </p:nvSpPr>
        <p:spPr>
          <a:xfrm>
            <a:off x="3987110" y="5534437"/>
            <a:ext cx="421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He is a school bus </a:t>
            </a:r>
            <a:r>
              <a:rPr lang="en-US" sz="2000" b="1"/>
              <a:t>driver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/ˈdraɪvər/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22530" name="Picture 2" descr="Driver Vector Art, Icons, and Graphics for Free Download">
            <a:extLst>
              <a:ext uri="{FF2B5EF4-FFF2-40B4-BE49-F238E27FC236}">
                <a16:creationId xmlns:a16="http://schemas.microsoft.com/office/drawing/2014/main" id="{90DD57A7-4A2A-7D43-5C19-BBE1CC564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1278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8A2A0-A165-DD8F-99C9-6FB0C160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5F3C6-3CC4-F8F3-7653-B0DDE49D8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DADEDF-A3FE-C958-16F0-D2459789641D}"/>
              </a:ext>
            </a:extLst>
          </p:cNvPr>
          <p:cNvSpPr txBox="1"/>
          <p:nvPr/>
        </p:nvSpPr>
        <p:spPr>
          <a:xfrm>
            <a:off x="4535105" y="5525384"/>
            <a:ext cx="3121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He is a </a:t>
            </a:r>
            <a:r>
              <a:rPr lang="en-US" sz="2000" b="1"/>
              <a:t>worker</a:t>
            </a:r>
            <a:r>
              <a:rPr lang="en-US" sz="2000"/>
              <a:t>. </a:t>
            </a:r>
            <a:r>
              <a:rPr lang="en-US" sz="200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/ˈwɜːrkər/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23554" name="Picture 2" descr="Worker Vector Art, Icons, and Graphics for Free Download">
            <a:extLst>
              <a:ext uri="{FF2B5EF4-FFF2-40B4-BE49-F238E27FC236}">
                <a16:creationId xmlns:a16="http://schemas.microsoft.com/office/drawing/2014/main" id="{4814F1AB-66CF-EF2E-77DB-BAFFA5FD3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3313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EC27F-C9C5-E975-560C-DB00932DF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5A2B7A-109D-5BD9-83D3-791D50092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DE36D0-1465-891F-2CFC-7AEA0A1A54B9}"/>
              </a:ext>
            </a:extLst>
          </p:cNvPr>
          <p:cNvSpPr txBox="1"/>
          <p:nvPr/>
        </p:nvSpPr>
        <p:spPr>
          <a:xfrm>
            <a:off x="4542989" y="5525385"/>
            <a:ext cx="3106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He is a </a:t>
            </a:r>
            <a:r>
              <a:rPr lang="en-US" sz="2000" b="1"/>
              <a:t>farmer</a:t>
            </a:r>
            <a:r>
              <a:rPr lang="en-US" sz="2000"/>
              <a:t>.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/ˈfɑːrmər/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24578" name="Picture 2" descr="Traditional Farmer Vector Art, Icons, and Graphics for Free Download">
            <a:extLst>
              <a:ext uri="{FF2B5EF4-FFF2-40B4-BE49-F238E27FC236}">
                <a16:creationId xmlns:a16="http://schemas.microsoft.com/office/drawing/2014/main" id="{D6BED6AB-9F10-F0BA-B619-D1A6180FF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4977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36AE1-1C2E-646E-85DC-0677535A0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D854D1-9936-5843-E05A-5B228683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pic>
        <p:nvPicPr>
          <p:cNvPr id="26626" name="Picture 2" descr="Job PNGs for Free Download">
            <a:extLst>
              <a:ext uri="{FF2B5EF4-FFF2-40B4-BE49-F238E27FC236}">
                <a16:creationId xmlns:a16="http://schemas.microsoft.com/office/drawing/2014/main" id="{800B09D4-FB46-24C6-96A5-0D762D7DC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6555F3-B901-C998-FAFA-C7B837F061D6}"/>
              </a:ext>
            </a:extLst>
          </p:cNvPr>
          <p:cNvSpPr txBox="1"/>
          <p:nvPr/>
        </p:nvSpPr>
        <p:spPr>
          <a:xfrm>
            <a:off x="3519011" y="5162304"/>
            <a:ext cx="51539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>
                <a:solidFill>
                  <a:schemeClr val="accent1"/>
                </a:solidFill>
              </a:rPr>
              <a:t>Job-Related Verbs</a:t>
            </a:r>
          </a:p>
        </p:txBody>
      </p:sp>
    </p:spTree>
    <p:extLst>
      <p:ext uri="{BB962C8B-B14F-4D97-AF65-F5344CB8AC3E}">
        <p14:creationId xmlns:p14="http://schemas.microsoft.com/office/powerpoint/2010/main" val="6122048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6D4AE-A95A-CDAA-7A3F-9F224D31A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1A61DA-F3DE-960D-F2B1-00BA46114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01612-A577-7B7D-CEE6-8A1EFD4F36A4}"/>
              </a:ext>
            </a:extLst>
          </p:cNvPr>
          <p:cNvSpPr txBox="1"/>
          <p:nvPr/>
        </p:nvSpPr>
        <p:spPr>
          <a:xfrm>
            <a:off x="3912898" y="5508176"/>
            <a:ext cx="43662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I want to </a:t>
            </a:r>
            <a:r>
              <a:rPr lang="en-US" sz="2000" b="1"/>
              <a:t>apply for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/əˈplaɪ/</a:t>
            </a:r>
            <a:r>
              <a:rPr lang="en-US" sz="2000" b="1">
                <a:solidFill>
                  <a:schemeClr val="accent1"/>
                </a:solidFill>
              </a:rPr>
              <a:t> </a:t>
            </a:r>
            <a:r>
              <a:rPr lang="en-US" sz="2000"/>
              <a:t>the position of headhunter at a company. 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27652" name="Picture 4" descr="Page 2 | Finding Job Vector Art, Icons, and Graphics for Free Download">
            <a:extLst>
              <a:ext uri="{FF2B5EF4-FFF2-40B4-BE49-F238E27FC236}">
                <a16:creationId xmlns:a16="http://schemas.microsoft.com/office/drawing/2014/main" id="{3A23F454-B233-E32E-0E74-B68AF2DEC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8663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23ABD-E61E-1029-E75B-E333981A6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0B7106-5964-8146-5840-6749B1473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871CE-0E3C-47BC-EB5B-C66332843A88}"/>
              </a:ext>
            </a:extLst>
          </p:cNvPr>
          <p:cNvSpPr txBox="1"/>
          <p:nvPr/>
        </p:nvSpPr>
        <p:spPr>
          <a:xfrm>
            <a:off x="3444235" y="5489170"/>
            <a:ext cx="5303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The company want to </a:t>
            </a:r>
            <a:r>
              <a:rPr lang="en-US" sz="2000" b="1"/>
              <a:t>hire</a:t>
            </a:r>
            <a:r>
              <a:rPr lang="en-US" sz="2000"/>
              <a:t>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/ˈhaɪər/ </a:t>
            </a:r>
            <a:r>
              <a:rPr lang="en-US" sz="2000"/>
              <a:t>a new CEO. 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28674" name="Picture 2" descr="Interview Questions Vector Art, Icons, and Graphics for Free Download">
            <a:extLst>
              <a:ext uri="{FF2B5EF4-FFF2-40B4-BE49-F238E27FC236}">
                <a16:creationId xmlns:a16="http://schemas.microsoft.com/office/drawing/2014/main" id="{14CC0ED6-B2E1-3D31-D281-0BE607F72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2638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8F39-8B64-70A5-8D7A-188FEF8D8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3A74B0-6DF4-9549-C036-F5D3D6D08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38377-1164-9FEF-4011-6617CF57C5C0}"/>
              </a:ext>
            </a:extLst>
          </p:cNvPr>
          <p:cNvSpPr txBox="1"/>
          <p:nvPr/>
        </p:nvSpPr>
        <p:spPr>
          <a:xfrm>
            <a:off x="2775336" y="5525384"/>
            <a:ext cx="6641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The director </a:t>
            </a:r>
            <a:r>
              <a:rPr lang="en-US" sz="2000" b="1"/>
              <a:t>promote</a:t>
            </a:r>
            <a:r>
              <a:rPr lang="en-US" sz="2000"/>
              <a:t>s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/prəˈməʊt/</a:t>
            </a:r>
            <a:r>
              <a:rPr lang="en-US" sz="2000">
                <a:solidFill>
                  <a:schemeClr val="accent1"/>
                </a:solidFill>
              </a:rPr>
              <a:t> </a:t>
            </a:r>
            <a:r>
              <a:rPr lang="en-US" sz="2000"/>
              <a:t>him to chief executive. 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29698" name="Picture 2" descr="Employee Promotion Vector Art, Icons, and Graphics for Free Download">
            <a:extLst>
              <a:ext uri="{FF2B5EF4-FFF2-40B4-BE49-F238E27FC236}">
                <a16:creationId xmlns:a16="http://schemas.microsoft.com/office/drawing/2014/main" id="{6DF00612-FC5A-FB13-FC50-7732E9848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2309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A3300-1EC7-2822-520C-74B99F8D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6B3DE4-3D80-3BD3-9B12-3E7B8B0E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9A256A-F60B-F578-C73F-DCE98419075E}"/>
              </a:ext>
            </a:extLst>
          </p:cNvPr>
          <p:cNvSpPr txBox="1"/>
          <p:nvPr/>
        </p:nvSpPr>
        <p:spPr>
          <a:xfrm>
            <a:off x="4020717" y="5462009"/>
            <a:ext cx="4150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My boss decides to </a:t>
            </a:r>
            <a:r>
              <a:rPr lang="en-US" sz="2000" b="1"/>
              <a:t>fire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/ˈfaɪər/</a:t>
            </a:r>
            <a:r>
              <a:rPr lang="en-US" sz="2000">
                <a:solidFill>
                  <a:schemeClr val="accent1"/>
                </a:solidFill>
              </a:rPr>
              <a:t> </a:t>
            </a:r>
            <a:r>
              <a:rPr lang="en-US" sz="2000"/>
              <a:t>me. 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31748" name="Picture 4" descr="Scene of a boss saying to the employee he is fired 2031497 Vector Art at  Vecteezy">
            <a:extLst>
              <a:ext uri="{FF2B5EF4-FFF2-40B4-BE49-F238E27FC236}">
                <a16:creationId xmlns:a16="http://schemas.microsoft.com/office/drawing/2014/main" id="{139BA23B-0A2E-05AD-44AB-1D5CF2D42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8242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170C3-FFEC-22AD-C840-41E5044FE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2FFF2-9FFD-E597-92F1-5154E3DA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5DA77C-341B-3D15-8F4F-4FDB068B0594}"/>
              </a:ext>
            </a:extLst>
          </p:cNvPr>
          <p:cNvSpPr txBox="1"/>
          <p:nvPr/>
        </p:nvSpPr>
        <p:spPr>
          <a:xfrm>
            <a:off x="4020717" y="5462009"/>
            <a:ext cx="41505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>
                <a:effectLst/>
                <a:latin typeface="+mj-lt"/>
              </a:rPr>
              <a:t>I want to </a:t>
            </a:r>
            <a:r>
              <a:rPr lang="en-US" sz="2000" b="1" i="0">
                <a:effectLst/>
                <a:latin typeface="+mj-lt"/>
              </a:rPr>
              <a:t>resign</a:t>
            </a:r>
            <a:r>
              <a:rPr lang="en-US" sz="2000" b="0" i="0">
                <a:effectLst/>
                <a:latin typeface="+mj-lt"/>
              </a:rPr>
              <a:t> </a:t>
            </a:r>
            <a:r>
              <a:rPr lang="en-US" sz="2000" b="0" i="0">
                <a:solidFill>
                  <a:schemeClr val="accent1"/>
                </a:solidFill>
                <a:effectLst/>
                <a:latin typeface="+mj-lt"/>
              </a:rPr>
              <a:t>/rɪˈzaɪn/ </a:t>
            </a:r>
            <a:r>
              <a:rPr lang="en-US" sz="2000" b="0" i="0">
                <a:effectLst/>
                <a:latin typeface="+mj-lt"/>
              </a:rPr>
              <a:t>after 10 years working at this company.</a:t>
            </a:r>
            <a:endParaRPr lang="en-US" sz="2000">
              <a:latin typeface="+mj-lt"/>
            </a:endParaRPr>
          </a:p>
        </p:txBody>
      </p:sp>
      <p:pic>
        <p:nvPicPr>
          <p:cNvPr id="32772" name="Picture 4" descr="Resignation Vector Art, Icons, and Graphics for Free Download">
            <a:extLst>
              <a:ext uri="{FF2B5EF4-FFF2-40B4-BE49-F238E27FC236}">
                <a16:creationId xmlns:a16="http://schemas.microsoft.com/office/drawing/2014/main" id="{860D9FFB-E298-114A-1EF2-378AD08FB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524000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91250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9A470-8601-7466-FE70-DC6139401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BC38F-3490-4496-5D76-F91B62756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AF30E2-D225-9FE2-C09F-BF1EA649934C}"/>
              </a:ext>
            </a:extLst>
          </p:cNvPr>
          <p:cNvSpPr txBox="1"/>
          <p:nvPr/>
        </p:nvSpPr>
        <p:spPr>
          <a:xfrm>
            <a:off x="3422831" y="5153251"/>
            <a:ext cx="53463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>
                <a:solidFill>
                  <a:schemeClr val="accent1"/>
                </a:solidFill>
              </a:rPr>
              <a:t>Job-Related Nouns</a:t>
            </a:r>
          </a:p>
        </p:txBody>
      </p:sp>
      <p:pic>
        <p:nvPicPr>
          <p:cNvPr id="33794" name="Picture 2" descr="Job Occupation Vector Art, Icons, and Graphics for Free Download">
            <a:extLst>
              <a:ext uri="{FF2B5EF4-FFF2-40B4-BE49-F238E27FC236}">
                <a16:creationId xmlns:a16="http://schemas.microsoft.com/office/drawing/2014/main" id="{20A30B62-57A1-BEFE-F6C3-6A82F3EA5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882" y="1234450"/>
            <a:ext cx="3680232" cy="368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7293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A768B-73E2-CE00-82D1-42C89F67A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20FBD-F536-F5A6-9707-703F9CC59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9104C-E064-A49F-75D8-F12294DA683D}"/>
              </a:ext>
            </a:extLst>
          </p:cNvPr>
          <p:cNvSpPr txBox="1"/>
          <p:nvPr/>
        </p:nvSpPr>
        <p:spPr>
          <a:xfrm>
            <a:off x="3303494" y="5561597"/>
            <a:ext cx="5585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I will do my job</a:t>
            </a:r>
            <a:r>
              <a:rPr lang="en-US" sz="2000" b="1"/>
              <a:t> interview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/ˈɪntərvjuː/ </a:t>
            </a:r>
            <a:r>
              <a:rPr lang="en-US" sz="2000"/>
              <a:t>next week. 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34820" name="Picture 4" descr="Interview Questions Vector Art, Icons, and Graphics for Free Download">
            <a:extLst>
              <a:ext uri="{FF2B5EF4-FFF2-40B4-BE49-F238E27FC236}">
                <a16:creationId xmlns:a16="http://schemas.microsoft.com/office/drawing/2014/main" id="{412FA2F8-78FB-C7B3-FD27-BEC637311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7265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D5EE5-4E98-E60A-580B-BC2784229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35FA9-6CFB-79FC-10A7-83D3270FB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EA609-3CAD-53FE-D199-5B942FCCDF18}"/>
              </a:ext>
            </a:extLst>
          </p:cNvPr>
          <p:cNvSpPr txBox="1"/>
          <p:nvPr/>
        </p:nvSpPr>
        <p:spPr>
          <a:xfrm>
            <a:off x="3303494" y="5561597"/>
            <a:ext cx="55850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effectLst/>
                <a:latin typeface="+mj-lt"/>
              </a:rPr>
              <a:t>The average monthly </a:t>
            </a:r>
            <a:r>
              <a:rPr lang="en-US" sz="2000" b="1">
                <a:effectLst/>
                <a:latin typeface="+mj-lt"/>
              </a:rPr>
              <a:t>salary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/ˈsæləri/ </a:t>
            </a:r>
            <a:r>
              <a:rPr lang="en-US" sz="2000">
                <a:effectLst/>
                <a:latin typeface="+mj-lt"/>
              </a:rPr>
              <a:t>for an unskilled worker is $550.</a:t>
            </a:r>
            <a:endParaRPr lang="en-US" sz="2000">
              <a:latin typeface="+mj-lt"/>
            </a:endParaRPr>
          </a:p>
        </p:txBody>
      </p:sp>
      <p:pic>
        <p:nvPicPr>
          <p:cNvPr id="35842" name="Picture 2" descr="Salary time. Boss holding coin in hand gives worker, human hand reaching  out for money, Employer and staff 6146179 Vector Art at Vecteezy">
            <a:extLst>
              <a:ext uri="{FF2B5EF4-FFF2-40B4-BE49-F238E27FC236}">
                <a16:creationId xmlns:a16="http://schemas.microsoft.com/office/drawing/2014/main" id="{0CC0FA12-FBAC-CEAD-1E6B-49941AC70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0780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96C5F-C759-D530-E230-5509CB1E0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487243-9F96-9BC8-31EE-400D1B46A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EC3BF4-78EC-496B-7AA1-1515995583A4}"/>
              </a:ext>
            </a:extLst>
          </p:cNvPr>
          <p:cNvSpPr txBox="1"/>
          <p:nvPr/>
        </p:nvSpPr>
        <p:spPr>
          <a:xfrm>
            <a:off x="3303494" y="5561597"/>
            <a:ext cx="55850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>
                <a:effectLst/>
                <a:latin typeface="Source Sans Pro" panose="020B0503030403020204" pitchFamily="34" charset="0"/>
              </a:rPr>
              <a:t> I have over ten years’ </a:t>
            </a:r>
            <a:r>
              <a:rPr lang="en-US" sz="2000" b="1">
                <a:effectLst/>
                <a:latin typeface="Source Sans Pro" panose="020B0503030403020204" pitchFamily="34" charset="0"/>
              </a:rPr>
              <a:t>experience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/ɪkˈspɪriəns/  </a:t>
            </a:r>
            <a:r>
              <a:rPr lang="en-US" sz="2000" b="0">
                <a:effectLst/>
                <a:latin typeface="Source Sans Pro" panose="020B0503030403020204" pitchFamily="34" charset="0"/>
              </a:rPr>
              <a:t>as a teacher.</a:t>
            </a:r>
            <a:endParaRPr lang="en-US" sz="2000">
              <a:latin typeface="+mj-lt"/>
            </a:endParaRPr>
          </a:p>
        </p:txBody>
      </p:sp>
      <p:pic>
        <p:nvPicPr>
          <p:cNvPr id="36866" name="Picture 2" descr="Job Experience Vector Art, Icons, and Graphics for Free Download">
            <a:extLst>
              <a:ext uri="{FF2B5EF4-FFF2-40B4-BE49-F238E27FC236}">
                <a16:creationId xmlns:a16="http://schemas.microsoft.com/office/drawing/2014/main" id="{4FB69B08-5E7F-CD68-36E4-1AD4867F3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164" y="1414164"/>
            <a:ext cx="4029671" cy="4029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10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9649B-EDAB-072A-BCD6-AA24F6CC8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662BF-DB1D-1D3D-A9DF-8CAE79CA5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9626F2-56EF-1C1D-6E3D-98292A1D778F}"/>
              </a:ext>
            </a:extLst>
          </p:cNvPr>
          <p:cNvSpPr txBox="1"/>
          <p:nvPr/>
        </p:nvSpPr>
        <p:spPr>
          <a:xfrm>
            <a:off x="3303493" y="5561597"/>
            <a:ext cx="5822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effectLst/>
                <a:latin typeface="Source Sans Pro" panose="020B0503030403020204" pitchFamily="34" charset="0"/>
              </a:rPr>
              <a:t>She plans to pursue a </a:t>
            </a:r>
            <a:r>
              <a:rPr lang="en-US" sz="2000" b="1">
                <a:effectLst/>
                <a:latin typeface="Source Sans Pro" panose="020B0503030403020204" pitchFamily="34" charset="0"/>
              </a:rPr>
              <a:t>career</a:t>
            </a:r>
            <a:r>
              <a:rPr lang="en-US" sz="2000">
                <a:effectLst/>
                <a:latin typeface="Source Sans Pro" panose="020B0503030403020204" pitchFamily="34" charset="0"/>
              </a:rPr>
              <a:t> 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/kəˈrɪr/ </a:t>
            </a:r>
            <a:r>
              <a:rPr lang="en-US" sz="2000">
                <a:effectLst/>
                <a:latin typeface="Source Sans Pro" panose="020B0503030403020204" pitchFamily="34" charset="0"/>
              </a:rPr>
              <a:t>in medicine.</a:t>
            </a:r>
            <a:endParaRPr lang="en-US" sz="2000">
              <a:latin typeface="+mj-lt"/>
            </a:endParaRPr>
          </a:p>
        </p:txBody>
      </p:sp>
      <p:pic>
        <p:nvPicPr>
          <p:cNvPr id="37890" name="Picture 2" descr="Career Vector Art, Icons, and Graphics for Free Download">
            <a:extLst>
              <a:ext uri="{FF2B5EF4-FFF2-40B4-BE49-F238E27FC236}">
                <a16:creationId xmlns:a16="http://schemas.microsoft.com/office/drawing/2014/main" id="{5861F4C3-4EAD-8AF5-B0E0-5532BF3EF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0413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65460-7429-AB5D-E92C-034CE8766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CF5E6E-4373-C972-6537-F345CF24F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497E52-698D-A066-84DC-F19C8382EB1C}"/>
              </a:ext>
            </a:extLst>
          </p:cNvPr>
          <p:cNvSpPr txBox="1"/>
          <p:nvPr/>
        </p:nvSpPr>
        <p:spPr>
          <a:xfrm>
            <a:off x="3669670" y="2767280"/>
            <a:ext cx="48526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>
                <a:solidFill>
                  <a:schemeClr val="accent1"/>
                </a:solidFill>
              </a:rPr>
              <a:t>SPEAKING</a:t>
            </a:r>
          </a:p>
        </p:txBody>
      </p:sp>
    </p:spTree>
    <p:extLst>
      <p:ext uri="{BB962C8B-B14F-4D97-AF65-F5344CB8AC3E}">
        <p14:creationId xmlns:p14="http://schemas.microsoft.com/office/powerpoint/2010/main" val="27521437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FC382-B334-C584-732F-FACB8ABD3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F61C3-9D80-7333-B3AF-D6D1F7EA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017032-963C-A5DF-BA0D-7FFF5F7C33DD}"/>
              </a:ext>
            </a:extLst>
          </p:cNvPr>
          <p:cNvSpPr txBox="1"/>
          <p:nvPr/>
        </p:nvSpPr>
        <p:spPr>
          <a:xfrm>
            <a:off x="2178489" y="1254881"/>
            <a:ext cx="783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accent1"/>
                </a:solidFill>
              </a:rPr>
              <a:t>1. What job do you want to do in the future?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87CDD7-B54E-E1F4-F90F-23A9889F9860}"/>
              </a:ext>
            </a:extLst>
          </p:cNvPr>
          <p:cNvSpPr txBox="1"/>
          <p:nvPr/>
        </p:nvSpPr>
        <p:spPr>
          <a:xfrm>
            <a:off x="2178489" y="5501087"/>
            <a:ext cx="7835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I want to be a teacher because I like to help</a:t>
            </a:r>
          </a:p>
          <a:p>
            <a:pPr algn="ctr"/>
            <a:r>
              <a:rPr lang="en-US" sz="2400"/>
              <a:t>people learn new things.</a:t>
            </a:r>
          </a:p>
        </p:txBody>
      </p:sp>
      <p:pic>
        <p:nvPicPr>
          <p:cNvPr id="1026" name="Picture 2" descr="Những thầy cô bá đạo khiến học sinh phát cuồng">
            <a:extLst>
              <a:ext uri="{FF2B5EF4-FFF2-40B4-BE49-F238E27FC236}">
                <a16:creationId xmlns:a16="http://schemas.microsoft.com/office/drawing/2014/main" id="{3F01E7BD-39DB-8A74-9E34-28DC0A21D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877" y="1848979"/>
            <a:ext cx="4468245" cy="3501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7615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A39FA-6C8A-2A87-0DD4-555E116D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D4E14-DDE9-400A-D8EF-A4A75A405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E53E3D-6233-5BDC-1B53-7BADE5171A65}"/>
              </a:ext>
            </a:extLst>
          </p:cNvPr>
          <p:cNvSpPr txBox="1"/>
          <p:nvPr/>
        </p:nvSpPr>
        <p:spPr>
          <a:xfrm>
            <a:off x="2178489" y="1254881"/>
            <a:ext cx="783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accent1"/>
                </a:solidFill>
              </a:rPr>
              <a:t>2. What job does your parents do?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789F6E-3548-4387-9C42-7E183B432AC3}"/>
              </a:ext>
            </a:extLst>
          </p:cNvPr>
          <p:cNvSpPr txBox="1"/>
          <p:nvPr/>
        </p:nvSpPr>
        <p:spPr>
          <a:xfrm>
            <a:off x="2178489" y="5501087"/>
            <a:ext cx="7835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My father is a driver. He drives a bus in the city.</a:t>
            </a:r>
          </a:p>
          <a:p>
            <a:pPr algn="ctr"/>
            <a:r>
              <a:rPr lang="en-US" sz="2400"/>
              <a:t>My mother is a lawyer. She works at the local court.</a:t>
            </a:r>
          </a:p>
        </p:txBody>
      </p:sp>
      <p:pic>
        <p:nvPicPr>
          <p:cNvPr id="2050" name="Picture 2" descr="60+ Weird Guy On Bus Stock Photos, Pictures &amp; Royalty-Free Images - iStock">
            <a:extLst>
              <a:ext uri="{FF2B5EF4-FFF2-40B4-BE49-F238E27FC236}">
                <a16:creationId xmlns:a16="http://schemas.microsoft.com/office/drawing/2014/main" id="{D2600454-A398-7354-ACFD-273848601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476" y="1832531"/>
            <a:ext cx="3953043" cy="355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46451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72010-BC9F-07C8-8C80-EB7795638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5E628-5C6B-2810-B792-54FB0D69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DEC8D-0A03-CF35-8663-DA832976DC56}"/>
              </a:ext>
            </a:extLst>
          </p:cNvPr>
          <p:cNvSpPr txBox="1"/>
          <p:nvPr/>
        </p:nvSpPr>
        <p:spPr>
          <a:xfrm>
            <a:off x="2178489" y="1254881"/>
            <a:ext cx="783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accent1"/>
                </a:solidFill>
              </a:rPr>
              <a:t>3. Do you think your job will be easy or difficult? Why?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5A61F-0168-28F7-5EAC-A77EF2A6C84D}"/>
              </a:ext>
            </a:extLst>
          </p:cNvPr>
          <p:cNvSpPr txBox="1"/>
          <p:nvPr/>
        </p:nvSpPr>
        <p:spPr>
          <a:xfrm>
            <a:off x="2178489" y="5501087"/>
            <a:ext cx="7835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I think it will be difficult </a:t>
            </a:r>
          </a:p>
          <a:p>
            <a:pPr algn="ctr"/>
            <a:r>
              <a:rPr lang="en-US" sz="2400"/>
              <a:t>because  I need to study a lot and work hard.</a:t>
            </a:r>
          </a:p>
        </p:txBody>
      </p:sp>
      <p:pic>
        <p:nvPicPr>
          <p:cNvPr id="3074" name="Picture 2" descr="Dog Typing On Computer Images – Browse 12,127 Stock Photos, Vectors, and  Video | Adobe Stock">
            <a:extLst>
              <a:ext uri="{FF2B5EF4-FFF2-40B4-BE49-F238E27FC236}">
                <a16:creationId xmlns:a16="http://schemas.microsoft.com/office/drawing/2014/main" id="{2A610EB7-D018-1FF1-423D-93F283BB4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4735" y="1894316"/>
            <a:ext cx="496252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10665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2D534-2A07-9682-43EE-D388EB0DB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D687C0-BCB9-EA6B-B501-7BFCA8509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D847BB-8B36-ABE2-4CA1-02D0CEDB0E62}"/>
              </a:ext>
            </a:extLst>
          </p:cNvPr>
          <p:cNvSpPr txBox="1"/>
          <p:nvPr/>
        </p:nvSpPr>
        <p:spPr>
          <a:xfrm>
            <a:off x="2178489" y="1254881"/>
            <a:ext cx="783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accent1"/>
                </a:solidFill>
              </a:rPr>
              <a:t>3. Do you think your job will be easy or difficult? Why?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11D5AE-CF82-F528-990D-8D37CCD9DE6F}"/>
              </a:ext>
            </a:extLst>
          </p:cNvPr>
          <p:cNvSpPr txBox="1"/>
          <p:nvPr/>
        </p:nvSpPr>
        <p:spPr>
          <a:xfrm>
            <a:off x="2178489" y="5501087"/>
            <a:ext cx="7835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I think it will be difficult </a:t>
            </a:r>
          </a:p>
          <a:p>
            <a:pPr algn="ctr"/>
            <a:r>
              <a:rPr lang="en-US" sz="2400"/>
              <a:t>because I need to study a lot and work hard.</a:t>
            </a:r>
          </a:p>
        </p:txBody>
      </p:sp>
      <p:pic>
        <p:nvPicPr>
          <p:cNvPr id="3074" name="Picture 2" descr="Dog Typing On Computer Images – Browse 12,127 Stock Photos, Vectors, and  Video | Adobe Stock">
            <a:extLst>
              <a:ext uri="{FF2B5EF4-FFF2-40B4-BE49-F238E27FC236}">
                <a16:creationId xmlns:a16="http://schemas.microsoft.com/office/drawing/2014/main" id="{05643F2D-DE6E-D046-754A-DC67CB1E7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4735" y="1894316"/>
            <a:ext cx="496252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5136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D0C65-F63A-27FE-4A67-9D2202329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FEA5A-0144-A9CA-0A08-BB52ADC3F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775737-F578-00F8-1140-AA831B1CE456}"/>
              </a:ext>
            </a:extLst>
          </p:cNvPr>
          <p:cNvSpPr txBox="1"/>
          <p:nvPr/>
        </p:nvSpPr>
        <p:spPr>
          <a:xfrm>
            <a:off x="2178489" y="1254881"/>
            <a:ext cx="783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accent1"/>
                </a:solidFill>
              </a:rPr>
              <a:t>4. Is it better to work in the city or in the countryside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F30A6-1BB7-A242-150F-4F4F38509092}"/>
              </a:ext>
            </a:extLst>
          </p:cNvPr>
          <p:cNvSpPr txBox="1"/>
          <p:nvPr/>
        </p:nvSpPr>
        <p:spPr>
          <a:xfrm>
            <a:off x="2178489" y="5501087"/>
            <a:ext cx="7835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I think it's better to work in the city</a:t>
            </a:r>
          </a:p>
          <a:p>
            <a:pPr algn="ctr"/>
            <a:r>
              <a:rPr lang="en-US" sz="2400"/>
              <a:t>because there are more jobs.</a:t>
            </a:r>
          </a:p>
        </p:txBody>
      </p:sp>
      <p:pic>
        <p:nvPicPr>
          <p:cNvPr id="4098" name="Picture 2" descr="27 Funny Job search Memes ideas | memes, funny jobs, funny">
            <a:extLst>
              <a:ext uri="{FF2B5EF4-FFF2-40B4-BE49-F238E27FC236}">
                <a16:creationId xmlns:a16="http://schemas.microsoft.com/office/drawing/2014/main" id="{DB0D97BD-BAE2-F876-62F5-0B33E89D0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176" y="1813341"/>
            <a:ext cx="4171643" cy="359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32699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98F9D-4270-109E-6EDC-42A464653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1B4D0-3C25-C6DE-5BB4-16F40B6A5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D9266F-B4D5-1D91-4BE3-F5D1E503A108}"/>
              </a:ext>
            </a:extLst>
          </p:cNvPr>
          <p:cNvSpPr txBox="1"/>
          <p:nvPr/>
        </p:nvSpPr>
        <p:spPr>
          <a:xfrm>
            <a:off x="2178489" y="1254881"/>
            <a:ext cx="783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accent1"/>
                </a:solidFill>
              </a:rPr>
              <a:t>5. What job do you think is fun?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A72E6-2978-7FE8-AF12-472AC7FABFD0}"/>
              </a:ext>
            </a:extLst>
          </p:cNvPr>
          <p:cNvSpPr txBox="1"/>
          <p:nvPr/>
        </p:nvSpPr>
        <p:spPr>
          <a:xfrm>
            <a:off x="2178489" y="5501087"/>
            <a:ext cx="7835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I think being a game designer is fun</a:t>
            </a:r>
          </a:p>
          <a:p>
            <a:pPr algn="ctr"/>
            <a:r>
              <a:rPr lang="en-US" sz="2400"/>
              <a:t>because you can make video games.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4C3D0A2-92D2-620F-F7B4-C5E539A8A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950" y="1856527"/>
            <a:ext cx="5566095" cy="3504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350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616E7-32A6-BD68-434C-F70554060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FB0B7-00DA-88CC-DB4C-45F2CF27E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C1EFC8-1E71-871E-90CE-8ED9E3E0C8ED}"/>
              </a:ext>
            </a:extLst>
          </p:cNvPr>
          <p:cNvSpPr txBox="1"/>
          <p:nvPr/>
        </p:nvSpPr>
        <p:spPr>
          <a:xfrm>
            <a:off x="2178489" y="1254881"/>
            <a:ext cx="783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accent1"/>
                </a:solidFill>
              </a:rPr>
              <a:t>6. Do you like to work on computers?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91205-EB27-A997-9EF5-9CD17ADF1A3D}"/>
              </a:ext>
            </a:extLst>
          </p:cNvPr>
          <p:cNvSpPr txBox="1"/>
          <p:nvPr/>
        </p:nvSpPr>
        <p:spPr>
          <a:xfrm>
            <a:off x="2178489" y="5501087"/>
            <a:ext cx="7835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Yes, I do. I love computers</a:t>
            </a:r>
          </a:p>
          <a:p>
            <a:pPr algn="ctr"/>
            <a:r>
              <a:rPr lang="en-US" sz="2400"/>
              <a:t>and I want to be a graphic designer</a:t>
            </a:r>
          </a:p>
        </p:txBody>
      </p:sp>
      <p:pic>
        <p:nvPicPr>
          <p:cNvPr id="2050" name="Picture 2" descr="16 Memes of Graphic Designers | DesignMantic: The Design Shop">
            <a:extLst>
              <a:ext uri="{FF2B5EF4-FFF2-40B4-BE49-F238E27FC236}">
                <a16:creationId xmlns:a16="http://schemas.microsoft.com/office/drawing/2014/main" id="{D73DDEBE-EAAA-73F3-2042-829E5CA77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130" y="1757948"/>
            <a:ext cx="3701736" cy="3701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7868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0CAAB-428F-6EEC-4231-F6BDF3FF8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A32CAE-88CC-1965-1433-D6D72458D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C4D8CE-73C8-2E9E-CCB1-5902F1B95A6E}"/>
              </a:ext>
            </a:extLst>
          </p:cNvPr>
          <p:cNvSpPr txBox="1"/>
          <p:nvPr/>
        </p:nvSpPr>
        <p:spPr>
          <a:xfrm>
            <a:off x="2178489" y="1254881"/>
            <a:ext cx="783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accent1"/>
                </a:solidFill>
              </a:rPr>
              <a:t>7. Do you like to work at a big company or at home?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A7071-52D2-A292-0385-ACF5F0089C62}"/>
              </a:ext>
            </a:extLst>
          </p:cNvPr>
          <p:cNvSpPr txBox="1"/>
          <p:nvPr/>
        </p:nvSpPr>
        <p:spPr>
          <a:xfrm>
            <a:off x="2178489" y="5501087"/>
            <a:ext cx="783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I want to work at home because it's more comfortable.</a:t>
            </a:r>
          </a:p>
        </p:txBody>
      </p:sp>
      <p:pic>
        <p:nvPicPr>
          <p:cNvPr id="3074" name="Picture 2" descr="Working from Home Meme Roundup 2025: Pure Relatable Gold">
            <a:extLst>
              <a:ext uri="{FF2B5EF4-FFF2-40B4-BE49-F238E27FC236}">
                <a16:creationId xmlns:a16="http://schemas.microsoft.com/office/drawing/2014/main" id="{6391B70D-8311-6B4A-8C25-A4623A7F6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531" y="1839641"/>
            <a:ext cx="3618933" cy="35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9624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F08E6-0BD3-9BE5-78DD-0B424C5B1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15CD58-1A0D-4811-CC6D-7F3B0C423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B75A9A-59E5-3D9F-A381-C4C896D3ABE3}"/>
              </a:ext>
            </a:extLst>
          </p:cNvPr>
          <p:cNvSpPr txBox="1"/>
          <p:nvPr/>
        </p:nvSpPr>
        <p:spPr>
          <a:xfrm>
            <a:off x="2178489" y="1254881"/>
            <a:ext cx="7835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accent1"/>
                </a:solidFill>
              </a:rPr>
              <a:t>8. Would you rather have a job that is fun</a:t>
            </a:r>
          </a:p>
          <a:p>
            <a:pPr algn="ctr"/>
            <a:r>
              <a:rPr lang="en-US" sz="2400" b="1">
                <a:solidFill>
                  <a:schemeClr val="accent1"/>
                </a:solidFill>
              </a:rPr>
              <a:t>or that is makes a lot of money?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F3A208-1E39-2613-9BD8-6C07A7BADE63}"/>
              </a:ext>
            </a:extLst>
          </p:cNvPr>
          <p:cNvSpPr txBox="1"/>
          <p:nvPr/>
        </p:nvSpPr>
        <p:spPr>
          <a:xfrm>
            <a:off x="2178489" y="5501087"/>
            <a:ext cx="7835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/>
              <a:t>I want a fun job. It's important to enjoy what you do.</a:t>
            </a:r>
          </a:p>
          <a:p>
            <a:pPr algn="ctr"/>
            <a:r>
              <a:rPr lang="en-US" sz="2400" i="1">
                <a:solidFill>
                  <a:schemeClr val="tx1">
                    <a:lumMod val="50000"/>
                  </a:schemeClr>
                </a:solidFill>
              </a:rPr>
              <a:t>I choose the second choice</a:t>
            </a:r>
          </a:p>
          <a:p>
            <a:pPr algn="ctr"/>
            <a:r>
              <a:rPr lang="en-US" sz="2400" i="1">
                <a:solidFill>
                  <a:schemeClr val="tx1">
                    <a:lumMod val="50000"/>
                  </a:schemeClr>
                </a:solidFill>
              </a:rPr>
              <a:t>because I can do anything with a lot of money</a:t>
            </a:r>
            <a:endParaRPr lang="en-US" sz="240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4098" name="Picture 2" descr="Woody Harrelson Cry Meme Generator - Imgflip">
            <a:extLst>
              <a:ext uri="{FF2B5EF4-FFF2-40B4-BE49-F238E27FC236}">
                <a16:creationId xmlns:a16="http://schemas.microsoft.com/office/drawing/2014/main" id="{DAAEC7C3-9144-E82C-7036-55C6EFF62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1467" y="2227158"/>
            <a:ext cx="3747188" cy="3132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3093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efault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127</TotalTime>
  <Words>885</Words>
  <Application>Microsoft Office PowerPoint</Application>
  <PresentationFormat>Widescreen</PresentationFormat>
  <Paragraphs>117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Aptos</vt:lpstr>
      <vt:lpstr>Arial</vt:lpstr>
      <vt:lpstr>Lucida Sans Unicode</vt:lpstr>
      <vt:lpstr>Source Sans Pro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dm1nh</dc:creator>
  <cp:lastModifiedBy>dm1nh</cp:lastModifiedBy>
  <cp:revision>10</cp:revision>
  <dcterms:created xsi:type="dcterms:W3CDTF">2025-05-12T05:18:32Z</dcterms:created>
  <dcterms:modified xsi:type="dcterms:W3CDTF">2025-05-12T11:00:32Z</dcterms:modified>
</cp:coreProperties>
</file>